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64" r:id="rId3"/>
    <p:sldId id="270" r:id="rId4"/>
    <p:sldId id="266" r:id="rId5"/>
    <p:sldId id="267" r:id="rId6"/>
    <p:sldId id="268" r:id="rId7"/>
    <p:sldId id="271" r:id="rId8"/>
    <p:sldId id="272" r:id="rId9"/>
    <p:sldId id="273" r:id="rId10"/>
    <p:sldId id="274" r:id="rId11"/>
    <p:sldId id="275" r:id="rId12"/>
    <p:sldId id="298" r:id="rId13"/>
    <p:sldId id="302" r:id="rId14"/>
    <p:sldId id="276" r:id="rId15"/>
    <p:sldId id="277" r:id="rId16"/>
    <p:sldId id="278" r:id="rId17"/>
    <p:sldId id="299" r:id="rId18"/>
    <p:sldId id="280" r:id="rId19"/>
    <p:sldId id="281" r:id="rId20"/>
    <p:sldId id="282" r:id="rId21"/>
    <p:sldId id="283" r:id="rId22"/>
    <p:sldId id="300" r:id="rId23"/>
    <p:sldId id="284" r:id="rId24"/>
    <p:sldId id="285" r:id="rId25"/>
    <p:sldId id="286" r:id="rId26"/>
    <p:sldId id="287" r:id="rId27"/>
    <p:sldId id="288" r:id="rId28"/>
    <p:sldId id="301" r:id="rId29"/>
    <p:sldId id="29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77" d="100"/>
          <a:sy n="77" d="100"/>
        </p:scale>
        <p:origin x="1122" y="84"/>
      </p:cViewPr>
      <p:guideLst>
        <p:guide orient="horz" pos="2160"/>
        <p:guide pos="2880"/>
      </p:guideLst>
    </p:cSldViewPr>
  </p:slideViewPr>
  <p:outlineViewPr>
    <p:cViewPr>
      <p:scale>
        <a:sx n="33" d="100"/>
        <a:sy n="33" d="100"/>
      </p:scale>
      <p:origin x="0" y="1953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A460F2-1911-48A0-B48A-458259D666F0}" type="datetimeFigureOut">
              <a:rPr lang="en-US" smtClean="0"/>
              <a:t>2/15/2024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1CA901-8EDC-45D9-A001-0CD522E6C372}" type="slidenum">
              <a:rPr lang="en-US" smtClean="0"/>
              <a:t>‹#›</a:t>
            </a:fld>
            <a:endParaRPr lang="en-US"/>
          </a:p>
        </p:txBody>
      </p:sp>
    </p:spTree>
    <p:extLst>
      <p:ext uri="{BB962C8B-B14F-4D97-AF65-F5344CB8AC3E}">
        <p14:creationId xmlns:p14="http://schemas.microsoft.com/office/powerpoint/2010/main" val="1713402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1CA901-8EDC-45D9-A001-0CD522E6C372}" type="slidenum">
              <a:rPr lang="en-US" smtClean="0"/>
              <a:t>12</a:t>
            </a:fld>
            <a:endParaRPr lang="en-US"/>
          </a:p>
        </p:txBody>
      </p:sp>
    </p:spTree>
    <p:extLst>
      <p:ext uri="{BB962C8B-B14F-4D97-AF65-F5344CB8AC3E}">
        <p14:creationId xmlns:p14="http://schemas.microsoft.com/office/powerpoint/2010/main" val="918690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1CA901-8EDC-45D9-A001-0CD522E6C372}" type="slidenum">
              <a:rPr lang="en-US" smtClean="0"/>
              <a:t>13</a:t>
            </a:fld>
            <a:endParaRPr lang="en-US"/>
          </a:p>
        </p:txBody>
      </p:sp>
    </p:spTree>
    <p:extLst>
      <p:ext uri="{BB962C8B-B14F-4D97-AF65-F5344CB8AC3E}">
        <p14:creationId xmlns:p14="http://schemas.microsoft.com/office/powerpoint/2010/main" val="3595921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png"/><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4.emf"/><Relationship Id="rId4" Type="http://schemas.openxmlformats.org/officeDocument/2006/relationships/package" Target="../embeddings/Microsoft_Word_Document.docx"/></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5.emf"/><Relationship Id="rId4" Type="http://schemas.openxmlformats.org/officeDocument/2006/relationships/package" Target="../embeddings/Microsoft_Excel_Worksheet.xlsx"/></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8.jpeg"/><Relationship Id="rId4" Type="http://schemas.openxmlformats.org/officeDocument/2006/relationships/image" Target="../media/image27.jpeg"/></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8.jpeg"/><Relationship Id="rId4" Type="http://schemas.openxmlformats.org/officeDocument/2006/relationships/image" Target="../media/image27.jpe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6" name="Rectangle 5"/>
          <p:cNvSpPr>
            <a:spLocks noChangeArrowheads="1"/>
          </p:cNvSpPr>
          <p:nvPr/>
        </p:nvSpPr>
        <p:spPr bwMode="auto">
          <a:xfrm>
            <a:off x="577257" y="1524000"/>
            <a:ext cx="8109543" cy="481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90000"/>
              </a:lnSpc>
              <a:spcBef>
                <a:spcPct val="10000"/>
              </a:spcBef>
              <a:buClr>
                <a:srgbClr val="FF832F"/>
              </a:buClr>
              <a:buSzPct val="105000"/>
            </a:pPr>
            <a:endParaRPr lang="en-GB" sz="4800" b="1" dirty="0" smtClean="0">
              <a:solidFill>
                <a:srgbClr val="FF0000"/>
              </a:solidFill>
            </a:endParaRPr>
          </a:p>
          <a:p>
            <a:pPr algn="ctr">
              <a:lnSpc>
                <a:spcPct val="90000"/>
              </a:lnSpc>
              <a:spcBef>
                <a:spcPct val="10000"/>
              </a:spcBef>
              <a:buClr>
                <a:srgbClr val="FF832F"/>
              </a:buClr>
              <a:buSzPct val="105000"/>
            </a:pPr>
            <a:r>
              <a:rPr lang="en-GB" sz="4400" b="1" dirty="0" smtClean="0">
                <a:solidFill>
                  <a:schemeClr val="accent6">
                    <a:lumMod val="75000"/>
                  </a:schemeClr>
                </a:solidFill>
              </a:rPr>
              <a:t>GOOD PRECTICES/ INITIATIVES </a:t>
            </a:r>
          </a:p>
          <a:p>
            <a:pPr algn="ctr">
              <a:lnSpc>
                <a:spcPct val="90000"/>
              </a:lnSpc>
              <a:spcBef>
                <a:spcPct val="10000"/>
              </a:spcBef>
              <a:buClr>
                <a:srgbClr val="FF832F"/>
              </a:buClr>
              <a:buSzPct val="105000"/>
            </a:pPr>
            <a:endParaRPr lang="en-GB" sz="4400" b="1" dirty="0" smtClean="0">
              <a:solidFill>
                <a:srgbClr val="FF0000"/>
              </a:solidFill>
            </a:endParaRPr>
          </a:p>
          <a:p>
            <a:pPr algn="ctr">
              <a:lnSpc>
                <a:spcPct val="90000"/>
              </a:lnSpc>
              <a:spcBef>
                <a:spcPct val="10000"/>
              </a:spcBef>
              <a:buClr>
                <a:srgbClr val="FF832F"/>
              </a:buClr>
              <a:buSzPct val="105000"/>
            </a:pPr>
            <a:r>
              <a:rPr lang="en-GB" sz="3200" b="1" dirty="0" smtClean="0">
                <a:solidFill>
                  <a:srgbClr val="002060"/>
                </a:solidFill>
              </a:rPr>
              <a:t> “QUALITY WORK”</a:t>
            </a:r>
          </a:p>
          <a:p>
            <a:pPr algn="ctr">
              <a:lnSpc>
                <a:spcPct val="90000"/>
              </a:lnSpc>
              <a:spcBef>
                <a:spcPct val="10000"/>
              </a:spcBef>
              <a:buClr>
                <a:srgbClr val="FF832F"/>
              </a:buClr>
              <a:buSzPct val="105000"/>
            </a:pPr>
            <a:r>
              <a:rPr lang="en-GB" sz="3200" b="1" dirty="0" smtClean="0">
                <a:solidFill>
                  <a:srgbClr val="FF0000"/>
                </a:solidFill>
              </a:rPr>
              <a:t> </a:t>
            </a:r>
          </a:p>
          <a:p>
            <a:pPr algn="ctr">
              <a:lnSpc>
                <a:spcPct val="90000"/>
              </a:lnSpc>
              <a:spcBef>
                <a:spcPct val="10000"/>
              </a:spcBef>
              <a:buClr>
                <a:srgbClr val="FF832F"/>
              </a:buClr>
              <a:buSzPct val="105000"/>
            </a:pPr>
            <a:r>
              <a:rPr lang="en-GB" sz="4400" b="1" dirty="0" smtClean="0">
                <a:solidFill>
                  <a:schemeClr val="accent6">
                    <a:lumMod val="75000"/>
                  </a:schemeClr>
                </a:solidFill>
              </a:rPr>
              <a:t>PRESENTATION</a:t>
            </a:r>
          </a:p>
          <a:p>
            <a:pPr algn="ctr">
              <a:lnSpc>
                <a:spcPct val="90000"/>
              </a:lnSpc>
              <a:spcBef>
                <a:spcPct val="10000"/>
              </a:spcBef>
              <a:buClr>
                <a:srgbClr val="FF832F"/>
              </a:buClr>
              <a:buSzPct val="105000"/>
            </a:pPr>
            <a:endParaRPr lang="en-GB" sz="4400" b="1" dirty="0">
              <a:solidFill>
                <a:srgbClr val="FF0000"/>
              </a:solidFill>
            </a:endParaRPr>
          </a:p>
          <a:p>
            <a:pPr algn="just">
              <a:lnSpc>
                <a:spcPct val="90000"/>
              </a:lnSpc>
              <a:spcBef>
                <a:spcPct val="10000"/>
              </a:spcBef>
              <a:buClr>
                <a:srgbClr val="FF832F"/>
              </a:buClr>
              <a:buSzPct val="105000"/>
            </a:pPr>
            <a:endParaRPr lang="en-GB"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AutoShape 1"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6" name="AutoShape 2"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8"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12" name="Title 1"/>
          <p:cNvSpPr>
            <a:spLocks noGrp="1"/>
          </p:cNvSpPr>
          <p:nvPr>
            <p:ph type="title"/>
          </p:nvPr>
        </p:nvSpPr>
        <p:spPr>
          <a:xfrm>
            <a:off x="861120" y="655712"/>
            <a:ext cx="8740080" cy="792088"/>
          </a:xfrm>
        </p:spPr>
        <p:txBody>
          <a:bodyPr>
            <a:normAutofit/>
          </a:bodyPr>
          <a:lstStyle/>
          <a:p>
            <a:pPr algn="ctr"/>
            <a:r>
              <a:rPr lang="en-US" b="1" dirty="0">
                <a:solidFill>
                  <a:schemeClr val="accent6">
                    <a:lumMod val="75000"/>
                  </a:schemeClr>
                </a:solidFill>
              </a:rPr>
              <a:t>Quality </a:t>
            </a:r>
            <a:r>
              <a:rPr lang="en-US" b="1" dirty="0" smtClean="0">
                <a:solidFill>
                  <a:schemeClr val="accent6">
                    <a:lumMod val="75000"/>
                  </a:schemeClr>
                </a:solidFill>
              </a:rPr>
              <a:t>Theme</a:t>
            </a:r>
            <a:endParaRPr lang="en-GB" b="1" dirty="0">
              <a:solidFill>
                <a:schemeClr val="accent6">
                  <a:lumMod val="75000"/>
                </a:schemeClr>
              </a:solidFill>
            </a:endParaRPr>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60600"/>
            <a:ext cx="5067060" cy="246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3217" y="2603500"/>
            <a:ext cx="2914366" cy="364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1676400" y="609600"/>
            <a:ext cx="8229600" cy="762000"/>
          </a:xfrm>
        </p:spPr>
        <p:txBody>
          <a:bodyPr>
            <a:noAutofit/>
          </a:bodyPr>
          <a:lstStyle/>
          <a:p>
            <a:r>
              <a:rPr lang="en-GB" sz="4000" b="1" dirty="0">
                <a:solidFill>
                  <a:schemeClr val="accent6">
                    <a:lumMod val="75000"/>
                  </a:schemeClr>
                </a:solidFill>
                <a:latin typeface="+mn-lt"/>
                <a:cs typeface="Arial" pitchFamily="34" charset="0"/>
              </a:rPr>
              <a:t>Quality Objectives – </a:t>
            </a:r>
            <a:r>
              <a:rPr lang="en-GB" sz="4000" b="1" dirty="0" smtClean="0">
                <a:solidFill>
                  <a:schemeClr val="accent6">
                    <a:lumMod val="75000"/>
                  </a:schemeClr>
                </a:solidFill>
                <a:latin typeface="+mn-lt"/>
                <a:cs typeface="Arial" pitchFamily="34" charset="0"/>
              </a:rPr>
              <a:t>F.Y. 2018</a:t>
            </a:r>
            <a:endParaRPr lang="en-GB" sz="4000" b="1" dirty="0">
              <a:solidFill>
                <a:schemeClr val="accent6">
                  <a:lumMod val="75000"/>
                </a:schemeClr>
              </a:solidFill>
              <a:latin typeface="+mn-lt"/>
              <a:cs typeface="Arial" pitchFamily="34" charset="0"/>
            </a:endParaRPr>
          </a:p>
        </p:txBody>
      </p:sp>
      <p:graphicFrame>
        <p:nvGraphicFramePr>
          <p:cNvPr id="6" name="Table 5"/>
          <p:cNvGraphicFramePr>
            <a:graphicFrameLocks noGrp="1"/>
          </p:cNvGraphicFramePr>
          <p:nvPr/>
        </p:nvGraphicFramePr>
        <p:xfrm>
          <a:off x="762001" y="1981200"/>
          <a:ext cx="8001000" cy="4761928"/>
        </p:xfrm>
        <a:graphic>
          <a:graphicData uri="http://schemas.openxmlformats.org/drawingml/2006/table">
            <a:tbl>
              <a:tblPr/>
              <a:tblGrid>
                <a:gridCol w="2773146">
                  <a:extLst>
                    <a:ext uri="{9D8B030D-6E8A-4147-A177-3AD203B41FA5}">
                      <a16:colId xmlns:a16="http://schemas.microsoft.com/office/drawing/2014/main" val="20000"/>
                    </a:ext>
                  </a:extLst>
                </a:gridCol>
                <a:gridCol w="2693138">
                  <a:extLst>
                    <a:ext uri="{9D8B030D-6E8A-4147-A177-3AD203B41FA5}">
                      <a16:colId xmlns:a16="http://schemas.microsoft.com/office/drawing/2014/main" val="20001"/>
                    </a:ext>
                  </a:extLst>
                </a:gridCol>
                <a:gridCol w="2534716">
                  <a:extLst>
                    <a:ext uri="{9D8B030D-6E8A-4147-A177-3AD203B41FA5}">
                      <a16:colId xmlns:a16="http://schemas.microsoft.com/office/drawing/2014/main" val="20002"/>
                    </a:ext>
                  </a:extLst>
                </a:gridCol>
              </a:tblGrid>
              <a:tr h="147620">
                <a:tc>
                  <a:txBody>
                    <a:bodyPr/>
                    <a:lstStyle/>
                    <a:p>
                      <a:pPr algn="ctr">
                        <a:lnSpc>
                          <a:spcPct val="115000"/>
                        </a:lnSpc>
                        <a:spcBef>
                          <a:spcPts val="600"/>
                        </a:spcBef>
                        <a:spcAft>
                          <a:spcPts val="0"/>
                        </a:spcAft>
                      </a:pPr>
                      <a:r>
                        <a:rPr lang="en-GB" sz="1200" b="1" dirty="0">
                          <a:solidFill>
                            <a:srgbClr val="FFFFFF"/>
                          </a:solidFill>
                          <a:latin typeface="Arial"/>
                          <a:ea typeface="Times New Roman"/>
                          <a:cs typeface="Arial"/>
                        </a:rPr>
                        <a:t>OBJECTIVES</a:t>
                      </a:r>
                      <a:endParaRPr lang="en-IN" sz="1200" dirty="0">
                        <a:latin typeface="Arial"/>
                        <a:ea typeface="Times New Roman"/>
                        <a:cs typeface="Times New Roman"/>
                      </a:endParaRPr>
                    </a:p>
                  </a:txBody>
                  <a:tcPr marL="45522" marR="45522" marT="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17365D"/>
                    </a:solidFill>
                  </a:tcPr>
                </a:tc>
                <a:tc>
                  <a:txBody>
                    <a:bodyPr/>
                    <a:lstStyle/>
                    <a:p>
                      <a:pPr algn="ctr">
                        <a:lnSpc>
                          <a:spcPct val="115000"/>
                        </a:lnSpc>
                        <a:spcBef>
                          <a:spcPts val="600"/>
                        </a:spcBef>
                        <a:spcAft>
                          <a:spcPts val="0"/>
                        </a:spcAft>
                      </a:pPr>
                      <a:r>
                        <a:rPr lang="en-GB" sz="1200" b="1">
                          <a:solidFill>
                            <a:srgbClr val="FFFFFF"/>
                          </a:solidFill>
                          <a:latin typeface="Arial"/>
                          <a:ea typeface="Times New Roman"/>
                          <a:cs typeface="Arial"/>
                        </a:rPr>
                        <a:t>STRATEGY</a:t>
                      </a:r>
                      <a:endParaRPr lang="en-IN" sz="1200">
                        <a:latin typeface="Arial"/>
                        <a:ea typeface="Times New Roman"/>
                        <a:cs typeface="Times New Roman"/>
                      </a:endParaRPr>
                    </a:p>
                  </a:txBody>
                  <a:tcPr marL="45522" marR="4552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17365D"/>
                    </a:solidFill>
                  </a:tcPr>
                </a:tc>
                <a:tc>
                  <a:txBody>
                    <a:bodyPr/>
                    <a:lstStyle/>
                    <a:p>
                      <a:pPr algn="ctr">
                        <a:lnSpc>
                          <a:spcPct val="115000"/>
                        </a:lnSpc>
                        <a:spcBef>
                          <a:spcPts val="600"/>
                        </a:spcBef>
                        <a:spcAft>
                          <a:spcPts val="0"/>
                        </a:spcAft>
                      </a:pPr>
                      <a:r>
                        <a:rPr lang="en-GB" sz="1200" b="1">
                          <a:solidFill>
                            <a:srgbClr val="FFFFFF"/>
                          </a:solidFill>
                          <a:latin typeface="Arial"/>
                          <a:ea typeface="Times New Roman"/>
                          <a:cs typeface="Arial"/>
                        </a:rPr>
                        <a:t>TARGETS</a:t>
                      </a:r>
                      <a:endParaRPr lang="en-IN" sz="1200">
                        <a:latin typeface="Arial"/>
                        <a:ea typeface="Times New Roman"/>
                        <a:cs typeface="Times New Roman"/>
                      </a:endParaRPr>
                    </a:p>
                  </a:txBody>
                  <a:tcPr marL="45522" marR="45522" marT="0" marB="0" anchor="ctr">
                    <a:lnL w="12700" cap="flat" cmpd="sng" algn="ctr">
                      <a:solidFill>
                        <a:srgbClr val="FFFFFF"/>
                      </a:solidFill>
                      <a:prstDash val="solid"/>
                      <a:round/>
                      <a:headEnd type="none" w="med" len="med"/>
                      <a:tailEnd type="none" w="med" len="med"/>
                    </a:lnL>
                    <a:lnR>
                      <a:noFill/>
                    </a:lnR>
                    <a:lnT>
                      <a:noFill/>
                    </a:lnT>
                    <a:lnB>
                      <a:noFill/>
                    </a:lnB>
                    <a:solidFill>
                      <a:srgbClr val="17365D"/>
                    </a:solidFill>
                  </a:tcPr>
                </a:tc>
                <a:extLst>
                  <a:ext uri="{0D108BD9-81ED-4DB2-BD59-A6C34878D82A}">
                    <a16:rowId xmlns:a16="http://schemas.microsoft.com/office/drawing/2014/main" val="10000"/>
                  </a:ext>
                </a:extLst>
              </a:tr>
              <a:tr h="445029">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Maintain an effective quality management system in compliance with ISO 9001 standards (Corporate level)</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pPr>
                      <a:r>
                        <a:rPr lang="en-GB" sz="800">
                          <a:latin typeface="Arial"/>
                          <a:ea typeface="Times New Roman"/>
                          <a:cs typeface="Arial"/>
                        </a:rPr>
                        <a:t>Maintain ISO 9001 Certificate</a:t>
                      </a:r>
                      <a:endParaRPr lang="en-IN" sz="80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pPr>
                      <a:r>
                        <a:rPr lang="en-GB" sz="800">
                          <a:latin typeface="Arial"/>
                          <a:ea typeface="Times New Roman"/>
                          <a:cs typeface="Arial"/>
                        </a:rPr>
                        <a:t>Zero Major Non-Conformity  </a:t>
                      </a:r>
                      <a:endParaRPr lang="en-IN" sz="80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82071">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Enhance customer satisfaction </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Monitor and track the Customer feedback/ complaint process to ensure issues raised by Customers are properly addressed and closed out within time frame.  </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latin typeface="Arial"/>
                          <a:ea typeface="Times New Roman"/>
                          <a:cs typeface="Arial"/>
                        </a:rPr>
                        <a:t>Conduct customer satisfaction survey at all projects at 50% and 100% of project completion.</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a:latin typeface="Arial"/>
                          <a:ea typeface="Times New Roman"/>
                          <a:cs typeface="Arial"/>
                        </a:rPr>
                        <a:t>Outstanding Feedback/complaints rate: 0%</a:t>
                      </a:r>
                      <a:endParaRPr lang="en-IN" sz="800">
                        <a:latin typeface="Arial"/>
                        <a:ea typeface="Times New Roman"/>
                        <a:cs typeface="Times New Roman"/>
                      </a:endParaRPr>
                    </a:p>
                    <a:p>
                      <a:pPr algn="l">
                        <a:lnSpc>
                          <a:spcPct val="115000"/>
                        </a:lnSpc>
                        <a:spcBef>
                          <a:spcPts val="600"/>
                        </a:spcBef>
                        <a:spcAft>
                          <a:spcPts val="600"/>
                        </a:spcAft>
                        <a:tabLst>
                          <a:tab pos="291465" algn="l"/>
                        </a:tabLst>
                      </a:pPr>
                      <a:r>
                        <a:rPr lang="en-US" sz="800">
                          <a:latin typeface="Arial"/>
                          <a:ea typeface="Times New Roman"/>
                          <a:cs typeface="Arial"/>
                        </a:rPr>
                        <a:t>Client Satisfaction Index &gt; 80%</a:t>
                      </a:r>
                      <a:endParaRPr lang="en-IN" sz="80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82071">
                <a:tc>
                  <a:txBody>
                    <a:bodyPr/>
                    <a:lstStyle/>
                    <a:p>
                      <a:pPr algn="l">
                        <a:lnSpc>
                          <a:spcPct val="115000"/>
                        </a:lnSpc>
                        <a:spcBef>
                          <a:spcPts val="600"/>
                        </a:spcBef>
                        <a:spcAft>
                          <a:spcPts val="600"/>
                        </a:spcAft>
                      </a:pPr>
                      <a:r>
                        <a:rPr lang="en-US" sz="800">
                          <a:latin typeface="Arial"/>
                          <a:ea typeface="Times New Roman"/>
                          <a:cs typeface="Arial"/>
                        </a:rPr>
                        <a:t>Consistently implement the quality management systems across the business.</a:t>
                      </a:r>
                      <a:endParaRPr lang="en-IN" sz="80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Implement the internal audit process (QA) to verify the compliance of project management system against corporate requirements. </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latin typeface="Arial"/>
                          <a:ea typeface="Times New Roman"/>
                          <a:cs typeface="Arial"/>
                        </a:rPr>
                        <a:t>Monitor the status of closing out audit observations to ensure corrective actions are taken to rectify identified issues in timely manner. </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Level 2 Quality Audit Score &gt; 85%</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latin typeface="Arial"/>
                          <a:ea typeface="Times New Roman"/>
                          <a:cs typeface="Arial"/>
                        </a:rPr>
                        <a:t>Outstanding Observations Rate &lt; 25%  </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05444">
                <a:tc>
                  <a:txBody>
                    <a:bodyPr/>
                    <a:lstStyle/>
                    <a:p>
                      <a:pPr algn="l">
                        <a:lnSpc>
                          <a:spcPct val="115000"/>
                        </a:lnSpc>
                        <a:spcBef>
                          <a:spcPts val="600"/>
                        </a:spcBef>
                        <a:spcAft>
                          <a:spcPts val="600"/>
                        </a:spcAft>
                      </a:pPr>
                      <a:r>
                        <a:rPr lang="en-US" sz="800" dirty="0">
                          <a:latin typeface="Arial"/>
                          <a:ea typeface="Times New Roman"/>
                          <a:cs typeface="Arial"/>
                        </a:rPr>
                        <a:t>Efficiently manage project quality performance to ensure deliver high quality project to our Clients. </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a:latin typeface="Arial"/>
                          <a:ea typeface="Times New Roman"/>
                          <a:cs typeface="Arial"/>
                        </a:rPr>
                        <a:t>Fully develop construction WMS and ITP’s to ensure execution works meet the Industrial Standards and contractual specifications.</a:t>
                      </a:r>
                      <a:endParaRPr lang="en-IN" sz="800">
                        <a:latin typeface="Arial"/>
                        <a:ea typeface="Times New Roman"/>
                        <a:cs typeface="Times New Roman"/>
                      </a:endParaRPr>
                    </a:p>
                    <a:p>
                      <a:pPr algn="l">
                        <a:lnSpc>
                          <a:spcPct val="115000"/>
                        </a:lnSpc>
                        <a:spcBef>
                          <a:spcPts val="600"/>
                        </a:spcBef>
                        <a:spcAft>
                          <a:spcPts val="600"/>
                        </a:spcAft>
                        <a:tabLst>
                          <a:tab pos="291465" algn="l"/>
                        </a:tabLst>
                      </a:pPr>
                      <a:r>
                        <a:rPr lang="en-US" sz="800">
                          <a:solidFill>
                            <a:srgbClr val="000000"/>
                          </a:solidFill>
                          <a:latin typeface="Arial"/>
                          <a:ea typeface="Calibri"/>
                          <a:cs typeface="Arial"/>
                        </a:rPr>
                        <a:t>Conduct regular Quality Control Audits on operations activities including Subcontractor works and </a:t>
                      </a:r>
                      <a:r>
                        <a:rPr lang="en-US" sz="800">
                          <a:latin typeface="Arial"/>
                          <a:ea typeface="Times New Roman"/>
                          <a:cs typeface="Arial"/>
                        </a:rPr>
                        <a:t>monitor the status of closing out identified Non-Conformities.  </a:t>
                      </a:r>
                      <a:endParaRPr lang="en-IN" sz="800">
                        <a:latin typeface="Arial"/>
                        <a:ea typeface="Times New Roman"/>
                        <a:cs typeface="Times New Roman"/>
                      </a:endParaRPr>
                    </a:p>
                    <a:p>
                      <a:pPr algn="l">
                        <a:lnSpc>
                          <a:spcPct val="115000"/>
                        </a:lnSpc>
                        <a:spcBef>
                          <a:spcPts val="600"/>
                        </a:spcBef>
                        <a:spcAft>
                          <a:spcPts val="600"/>
                        </a:spcAft>
                        <a:tabLst>
                          <a:tab pos="291465" algn="l"/>
                        </a:tabLst>
                      </a:pPr>
                      <a:r>
                        <a:rPr lang="en-US" sz="800">
                          <a:solidFill>
                            <a:srgbClr val="000000"/>
                          </a:solidFill>
                          <a:latin typeface="Arial"/>
                          <a:ea typeface="Times New Roman"/>
                          <a:cs typeface="Arial"/>
                        </a:rPr>
                        <a:t>Control Subcontractors and suppliers performance </a:t>
                      </a:r>
                      <a:endParaRPr lang="en-IN" sz="80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Inspection rate: 100% as per ITP</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latin typeface="Arial"/>
                          <a:ea typeface="Times New Roman"/>
                          <a:cs typeface="Arial"/>
                        </a:rPr>
                        <a:t>Outstanding NCR’s Rate &lt; 25% </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solidFill>
                            <a:srgbClr val="000000"/>
                          </a:solidFill>
                          <a:latin typeface="Arial"/>
                          <a:ea typeface="Calibri"/>
                          <a:cs typeface="Arial"/>
                        </a:rPr>
                        <a:t>Vendor Pre-qualification Rate: 100% (for major suppliers and subcontractors)</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solidFill>
                            <a:srgbClr val="000000"/>
                          </a:solidFill>
                          <a:latin typeface="Arial"/>
                          <a:ea typeface="Calibri"/>
                          <a:cs typeface="Arial"/>
                        </a:rPr>
                        <a:t>Vendor performance evaluation Rate: 100% (for major suppliers and subcontractors)</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09766">
                <a:tc>
                  <a:txBody>
                    <a:bodyPr/>
                    <a:lstStyle/>
                    <a:p>
                      <a:pPr algn="l">
                        <a:lnSpc>
                          <a:spcPct val="115000"/>
                        </a:lnSpc>
                        <a:spcBef>
                          <a:spcPts val="600"/>
                        </a:spcBef>
                        <a:spcAft>
                          <a:spcPts val="600"/>
                        </a:spcAft>
                      </a:pPr>
                      <a:r>
                        <a:rPr lang="en-US" sz="800">
                          <a:latin typeface="Arial"/>
                          <a:ea typeface="Times New Roman"/>
                          <a:cs typeface="Arial"/>
                        </a:rPr>
                        <a:t>Enforce the awareness of quality concept in the business.  </a:t>
                      </a:r>
                      <a:endParaRPr lang="en-IN" sz="80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Frequently conduct quality induction and tool box talks for project staff</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600"/>
                        </a:spcBef>
                        <a:spcAft>
                          <a:spcPts val="600"/>
                        </a:spcAft>
                        <a:tabLst>
                          <a:tab pos="291465" algn="l"/>
                        </a:tabLst>
                      </a:pPr>
                      <a:r>
                        <a:rPr lang="en-US" sz="800" dirty="0">
                          <a:latin typeface="Arial"/>
                          <a:ea typeface="Times New Roman"/>
                          <a:cs typeface="Arial"/>
                        </a:rPr>
                        <a:t>Quality Management  systems Induction Rate : 100%</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latin typeface="Arial"/>
                          <a:ea typeface="Times New Roman"/>
                          <a:cs typeface="Arial"/>
                        </a:rPr>
                        <a:t>Quality Training: 2 sections/ month</a:t>
                      </a:r>
                      <a:endParaRPr lang="en-IN" sz="800" dirty="0">
                        <a:latin typeface="Arial"/>
                        <a:ea typeface="Times New Roman"/>
                        <a:cs typeface="Times New Roman"/>
                      </a:endParaRPr>
                    </a:p>
                    <a:p>
                      <a:pPr algn="l">
                        <a:lnSpc>
                          <a:spcPct val="115000"/>
                        </a:lnSpc>
                        <a:spcBef>
                          <a:spcPts val="600"/>
                        </a:spcBef>
                        <a:spcAft>
                          <a:spcPts val="600"/>
                        </a:spcAft>
                        <a:tabLst>
                          <a:tab pos="291465" algn="l"/>
                        </a:tabLst>
                      </a:pPr>
                      <a:r>
                        <a:rPr lang="en-US" sz="800" dirty="0">
                          <a:latin typeface="Arial"/>
                          <a:ea typeface="Times New Roman"/>
                          <a:cs typeface="Arial"/>
                        </a:rPr>
                        <a:t>Quality Walk: 1/ month</a:t>
                      </a:r>
                      <a:endParaRPr lang="en-IN" sz="800" dirty="0">
                        <a:latin typeface="Arial"/>
                        <a:ea typeface="Times New Roman"/>
                        <a:cs typeface="Times New Roman"/>
                      </a:endParaRPr>
                    </a:p>
                  </a:txBody>
                  <a:tcPr marL="45522" marR="45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AutoShape 1"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6" name="AutoShape 2"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8"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29" name="Title 1"/>
          <p:cNvSpPr>
            <a:spLocks noGrp="1"/>
          </p:cNvSpPr>
          <p:nvPr>
            <p:ph type="title"/>
          </p:nvPr>
        </p:nvSpPr>
        <p:spPr>
          <a:xfrm>
            <a:off x="2590800" y="713656"/>
            <a:ext cx="6400800" cy="581744"/>
          </a:xfrm>
        </p:spPr>
        <p:txBody>
          <a:bodyPr>
            <a:noAutofit/>
          </a:bodyPr>
          <a:lstStyle/>
          <a:p>
            <a:pPr algn="ctr"/>
            <a:r>
              <a:rPr lang="en-US" sz="3600" b="1" dirty="0" smtClean="0">
                <a:solidFill>
                  <a:schemeClr val="accent6">
                    <a:lumMod val="75000"/>
                  </a:schemeClr>
                </a:solidFill>
              </a:rPr>
              <a:t>Duties &amp; Responsibilities of Quality Team</a:t>
            </a:r>
            <a:endParaRPr lang="en-GB" sz="3600" b="1" dirty="0">
              <a:solidFill>
                <a:schemeClr val="accent6">
                  <a:lumMod val="75000"/>
                </a:schemeClr>
              </a:solidFill>
            </a:endParaRPr>
          </a:p>
        </p:txBody>
      </p:sp>
      <p:sp>
        <p:nvSpPr>
          <p:cNvPr id="30" name="Rectangle 29"/>
          <p:cNvSpPr/>
          <p:nvPr/>
        </p:nvSpPr>
        <p:spPr>
          <a:xfrm>
            <a:off x="609600" y="1752600"/>
            <a:ext cx="8077200" cy="5170646"/>
          </a:xfrm>
          <a:prstGeom prst="rect">
            <a:avLst/>
          </a:prstGeom>
        </p:spPr>
        <p:txBody>
          <a:bodyPr wrap="square">
            <a:spAutoFit/>
          </a:bodyPr>
          <a:lstStyle/>
          <a:p>
            <a:r>
              <a:rPr lang="en-US" sz="2200" b="1" dirty="0"/>
              <a:t>Quality Manager – </a:t>
            </a:r>
          </a:p>
          <a:p>
            <a:pPr marL="342900" indent="-342900">
              <a:buFont typeface="Wingdings" panose="05000000000000000000" pitchFamily="2" charset="2"/>
              <a:buChar char="Ø"/>
            </a:pPr>
            <a:r>
              <a:rPr lang="en-US" sz="2200" dirty="0" smtClean="0"/>
              <a:t>To prepare QP,ITP,s as per specifications.</a:t>
            </a:r>
          </a:p>
          <a:p>
            <a:pPr marL="342900" indent="-342900">
              <a:buFont typeface="Wingdings" panose="05000000000000000000" pitchFamily="2" charset="2"/>
              <a:buChar char="Ø"/>
            </a:pPr>
            <a:r>
              <a:rPr lang="en-US" sz="2200" dirty="0" smtClean="0"/>
              <a:t>To Ensure the Implementation of SBT Quality Management system at Project site .</a:t>
            </a:r>
            <a:endParaRPr lang="en-US" sz="2200" dirty="0"/>
          </a:p>
          <a:p>
            <a:r>
              <a:rPr lang="en-US" sz="2200" b="1" dirty="0" smtClean="0"/>
              <a:t>QA-QC/Lab Engineers/Supervisors </a:t>
            </a:r>
            <a:r>
              <a:rPr lang="en-US" sz="2200" b="1" dirty="0"/>
              <a:t>– </a:t>
            </a:r>
            <a:endParaRPr lang="en-US" sz="2200" b="1" dirty="0" smtClean="0"/>
          </a:p>
          <a:p>
            <a:pPr marL="342900" indent="-342900">
              <a:buFont typeface="Wingdings" panose="05000000000000000000" pitchFamily="2" charset="2"/>
              <a:buChar char="Ø"/>
            </a:pPr>
            <a:r>
              <a:rPr lang="en-US" sz="2200" dirty="0" smtClean="0"/>
              <a:t>To Ensure that work is being carried out as per WMS.</a:t>
            </a:r>
          </a:p>
          <a:p>
            <a:pPr marL="342900" indent="-342900">
              <a:buFont typeface="Wingdings" panose="05000000000000000000" pitchFamily="2" charset="2"/>
              <a:buChar char="Ø"/>
            </a:pPr>
            <a:r>
              <a:rPr lang="en-US" sz="2200" dirty="0" smtClean="0"/>
              <a:t>Inspection of the work ,conducting Lab tests as per ITP.</a:t>
            </a:r>
          </a:p>
          <a:p>
            <a:pPr marL="342900" indent="-342900">
              <a:buFont typeface="Wingdings" panose="05000000000000000000" pitchFamily="2" charset="2"/>
              <a:buChar char="Ø"/>
            </a:pPr>
            <a:r>
              <a:rPr lang="en-US" sz="2200" dirty="0" smtClean="0"/>
              <a:t>Inspection &amp; testing of incoming materials at site /plant.</a:t>
            </a:r>
          </a:p>
          <a:p>
            <a:pPr marL="342900" indent="-342900">
              <a:buFont typeface="Wingdings" panose="05000000000000000000" pitchFamily="2" charset="2"/>
              <a:buChar char="Ø"/>
            </a:pPr>
            <a:r>
              <a:rPr lang="en-US" sz="2200" dirty="0" smtClean="0"/>
              <a:t>Inspection of site activities</a:t>
            </a:r>
            <a:r>
              <a:rPr lang="en-US" sz="2200" dirty="0"/>
              <a:t>, Subcontractor’s </a:t>
            </a:r>
            <a:r>
              <a:rPr lang="en-US" sz="2200" dirty="0" smtClean="0"/>
              <a:t>work,  to issue </a:t>
            </a:r>
            <a:r>
              <a:rPr lang="en-US" sz="2200" dirty="0"/>
              <a:t>OFI to avoid poor quality/defective </a:t>
            </a:r>
            <a:r>
              <a:rPr lang="en-US" sz="2200" dirty="0" smtClean="0"/>
              <a:t>work, NCRs for Non conforming works  </a:t>
            </a:r>
            <a:r>
              <a:rPr lang="en-US" sz="2200" dirty="0"/>
              <a:t>&amp; follow </a:t>
            </a:r>
            <a:r>
              <a:rPr lang="en-US" sz="2200" dirty="0" smtClean="0"/>
              <a:t>up for their closure.  </a:t>
            </a:r>
          </a:p>
          <a:p>
            <a:pPr marL="342900" indent="-342900">
              <a:buFont typeface="Wingdings" panose="05000000000000000000" pitchFamily="2" charset="2"/>
              <a:buChar char="Ø"/>
            </a:pPr>
            <a:r>
              <a:rPr lang="en-US" sz="2200" dirty="0" smtClean="0"/>
              <a:t>Maintaining quality records.</a:t>
            </a:r>
          </a:p>
          <a:p>
            <a:pPr marL="342900" indent="-342900">
              <a:buFont typeface="Wingdings" panose="05000000000000000000" pitchFamily="2" charset="2"/>
              <a:buChar char="Ø"/>
            </a:pPr>
            <a:r>
              <a:rPr lang="en-US" sz="2200" dirty="0" smtClean="0"/>
              <a:t>Submit </a:t>
            </a:r>
            <a:r>
              <a:rPr lang="en-US" sz="2200" dirty="0"/>
              <a:t>Weekly Reports / Monthly </a:t>
            </a:r>
            <a:r>
              <a:rPr lang="en-US" sz="2200" dirty="0" smtClean="0"/>
              <a:t>Reports.</a:t>
            </a:r>
          </a:p>
          <a:p>
            <a:pPr marL="342900" indent="-342900">
              <a:buFont typeface="Wingdings" panose="05000000000000000000" pitchFamily="2" charset="2"/>
              <a:buChar char="Ø"/>
            </a:pPr>
            <a:r>
              <a:rPr lang="en-US" sz="2200" dirty="0" smtClean="0"/>
              <a:t>Ensure </a:t>
            </a:r>
            <a:r>
              <a:rPr lang="en-US" sz="2200" dirty="0"/>
              <a:t>routine Calibration of measuring equipment's.</a:t>
            </a:r>
          </a:p>
          <a:p>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AutoShape 1"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6" name="AutoShape 2"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8"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9" name="Title 1"/>
          <p:cNvSpPr>
            <a:spLocks noGrp="1"/>
          </p:cNvSpPr>
          <p:nvPr>
            <p:ph type="title"/>
          </p:nvPr>
        </p:nvSpPr>
        <p:spPr>
          <a:xfrm>
            <a:off x="2286000" y="762000"/>
            <a:ext cx="7162800" cy="657944"/>
          </a:xfrm>
        </p:spPr>
        <p:txBody>
          <a:bodyPr>
            <a:noAutofit/>
          </a:bodyPr>
          <a:lstStyle/>
          <a:p>
            <a:r>
              <a:rPr lang="en-US" sz="3600" b="1" dirty="0" smtClean="0">
                <a:solidFill>
                  <a:schemeClr val="accent6">
                    <a:lumMod val="75000"/>
                  </a:schemeClr>
                </a:solidFill>
              </a:rPr>
              <a:t>Corporate Procedures-Quality </a:t>
            </a:r>
            <a:endParaRPr lang="en-GB" sz="3600" dirty="0">
              <a:solidFill>
                <a:schemeClr val="accent6">
                  <a:lumMod val="75000"/>
                </a:schemeClr>
              </a:solidFill>
            </a:endParaRPr>
          </a:p>
        </p:txBody>
      </p:sp>
      <p:sp>
        <p:nvSpPr>
          <p:cNvPr id="10" name="Rectangle 9"/>
          <p:cNvSpPr>
            <a:spLocks noChangeArrowheads="1"/>
          </p:cNvSpPr>
          <p:nvPr/>
        </p:nvSpPr>
        <p:spPr bwMode="auto">
          <a:xfrm>
            <a:off x="250825" y="2209800"/>
            <a:ext cx="8664575" cy="4648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09550" indent="-209550" eaLnBrk="0" hangingPunct="0">
              <a:lnSpc>
                <a:spcPct val="90000"/>
              </a:lnSpc>
              <a:spcBef>
                <a:spcPct val="10000"/>
              </a:spcBef>
              <a:buClr>
                <a:srgbClr val="FF832F"/>
              </a:buClr>
              <a:buSzPct val="105000"/>
              <a:buFont typeface="Wingdings" pitchFamily="2" charset="2"/>
              <a:buChar char="§"/>
            </a:pPr>
            <a:r>
              <a:rPr lang="en-AU" sz="2200" b="1" u="sng" dirty="0" smtClean="0"/>
              <a:t>SBT-QAM-PR-001 -Management Review Meeting</a:t>
            </a:r>
          </a:p>
          <a:p>
            <a:pPr algn="just" eaLnBrk="0" hangingPunct="0">
              <a:lnSpc>
                <a:spcPct val="90000"/>
              </a:lnSpc>
              <a:spcBef>
                <a:spcPct val="10000"/>
              </a:spcBef>
              <a:buClr>
                <a:srgbClr val="FF832F"/>
              </a:buClr>
              <a:buSzPct val="105000"/>
            </a:pPr>
            <a:r>
              <a:rPr lang="en-US" sz="2200" dirty="0" smtClean="0"/>
              <a:t>This </a:t>
            </a:r>
            <a:r>
              <a:rPr lang="en-US" sz="2200" dirty="0"/>
              <a:t>procedure sets out the process for scheduling and conducting regular management reviews of the company’s management systems to ensure their continuing suitability adequacy and effectiveness.</a:t>
            </a:r>
          </a:p>
          <a:p>
            <a:pPr algn="just" eaLnBrk="0" hangingPunct="0">
              <a:lnSpc>
                <a:spcPct val="90000"/>
              </a:lnSpc>
              <a:spcBef>
                <a:spcPct val="10000"/>
              </a:spcBef>
              <a:buClr>
                <a:srgbClr val="FF832F"/>
              </a:buClr>
              <a:buSzPct val="105000"/>
            </a:pPr>
            <a:endParaRPr lang="en-US" sz="2200" dirty="0" smtClean="0"/>
          </a:p>
          <a:p>
            <a:pPr algn="just" eaLnBrk="0" hangingPunct="0">
              <a:lnSpc>
                <a:spcPct val="90000"/>
              </a:lnSpc>
              <a:spcBef>
                <a:spcPct val="10000"/>
              </a:spcBef>
              <a:buClr>
                <a:srgbClr val="FF832F"/>
              </a:buClr>
              <a:buSzPct val="105000"/>
            </a:pPr>
            <a:r>
              <a:rPr lang="en-US" sz="2200" dirty="0" smtClean="0"/>
              <a:t>Management </a:t>
            </a:r>
            <a:r>
              <a:rPr lang="en-US" sz="2200" dirty="0"/>
              <a:t>Reviews shall be held at the following intervals</a:t>
            </a:r>
            <a:r>
              <a:rPr lang="en-US" sz="2200" dirty="0" smtClean="0"/>
              <a:t>:</a:t>
            </a:r>
          </a:p>
          <a:p>
            <a:pPr marL="342900" indent="-342900" algn="just" eaLnBrk="0" hangingPunct="0">
              <a:lnSpc>
                <a:spcPct val="90000"/>
              </a:lnSpc>
              <a:spcBef>
                <a:spcPct val="10000"/>
              </a:spcBef>
              <a:buClr>
                <a:srgbClr val="FF832F"/>
              </a:buClr>
              <a:buSzPct val="105000"/>
              <a:buFont typeface="Wingdings" panose="05000000000000000000" pitchFamily="2" charset="2"/>
              <a:buChar char="Ø"/>
            </a:pPr>
            <a:r>
              <a:rPr lang="en-US" sz="2200" b="1" dirty="0" smtClean="0"/>
              <a:t>Meetings </a:t>
            </a:r>
            <a:r>
              <a:rPr lang="en-US" sz="2200" b="1" dirty="0"/>
              <a:t>at Corporate level </a:t>
            </a:r>
            <a:r>
              <a:rPr lang="en-US" sz="2200" dirty="0"/>
              <a:t>to review the functionality of the Corporate Integrated Management System – </a:t>
            </a:r>
            <a:r>
              <a:rPr lang="en-US" sz="2200" b="1" dirty="0"/>
              <a:t>at least once in each financial year.</a:t>
            </a:r>
          </a:p>
          <a:p>
            <a:pPr marL="342900" indent="-342900" algn="just" eaLnBrk="0" hangingPunct="0">
              <a:lnSpc>
                <a:spcPct val="90000"/>
              </a:lnSpc>
              <a:spcBef>
                <a:spcPct val="10000"/>
              </a:spcBef>
              <a:buClr>
                <a:srgbClr val="FF832F"/>
              </a:buClr>
              <a:buSzPct val="105000"/>
              <a:buFont typeface="Wingdings" panose="05000000000000000000" pitchFamily="2" charset="2"/>
              <a:buChar char="Ø"/>
            </a:pPr>
            <a:r>
              <a:rPr lang="en-US" sz="2200" b="1" dirty="0" smtClean="0"/>
              <a:t>Meetings </a:t>
            </a:r>
            <a:r>
              <a:rPr lang="en-US" sz="2200" b="1" dirty="0"/>
              <a:t>at Project Levels </a:t>
            </a:r>
            <a:r>
              <a:rPr lang="en-US" sz="2200" dirty="0"/>
              <a:t>to review the functionality of the Project Integrated Management System – </a:t>
            </a:r>
            <a:r>
              <a:rPr lang="en-US" sz="2200" b="1" dirty="0"/>
              <a:t>at least twice in each financial year</a:t>
            </a:r>
            <a:r>
              <a:rPr lang="en-US" sz="2200" dirty="0"/>
              <a:t>. </a:t>
            </a:r>
            <a:r>
              <a:rPr lang="en-US" sz="2200" b="1" dirty="0"/>
              <a:t>Quality Monthly </a:t>
            </a:r>
            <a:r>
              <a:rPr lang="en-US" sz="2200" b="1" dirty="0" smtClean="0"/>
              <a:t>Report </a:t>
            </a:r>
            <a:r>
              <a:rPr lang="en-US" sz="2200" dirty="0" smtClean="0"/>
              <a:t>shall be prepared and forwarded to HO for records.</a:t>
            </a:r>
            <a:endParaRPr lang="en-AU" sz="2200" dirty="0"/>
          </a:p>
          <a:p>
            <a:pPr marL="457200" indent="-457200" eaLnBrk="0" hangingPunct="0">
              <a:lnSpc>
                <a:spcPct val="90000"/>
              </a:lnSpc>
              <a:spcBef>
                <a:spcPct val="10000"/>
              </a:spcBef>
              <a:buClr>
                <a:srgbClr val="FF832F"/>
              </a:buClr>
              <a:buSzPct val="105000"/>
              <a:buFont typeface="Wingdings" panose="05000000000000000000" pitchFamily="2" charset="2"/>
              <a:buChar char="Ø"/>
            </a:pPr>
            <a:endParaRPr lang="en-AU" sz="2200" dirty="0" smtClean="0"/>
          </a:p>
          <a:p>
            <a:pPr marL="209550" indent="-209550" eaLnBrk="0" hangingPunct="0">
              <a:lnSpc>
                <a:spcPct val="90000"/>
              </a:lnSpc>
              <a:spcBef>
                <a:spcPct val="10000"/>
              </a:spcBef>
              <a:buClr>
                <a:srgbClr val="FF832F"/>
              </a:buClr>
              <a:buSzPct val="105000"/>
              <a:buFont typeface="Wingdings" pitchFamily="2" charset="2"/>
              <a:buChar char="§"/>
            </a:pPr>
            <a:endParaRPr lang="en-AU" sz="2200" dirty="0"/>
          </a:p>
          <a:p>
            <a:pPr marL="209550" indent="-209550" eaLnBrk="0" hangingPunct="0">
              <a:lnSpc>
                <a:spcPct val="90000"/>
              </a:lnSpc>
              <a:spcBef>
                <a:spcPct val="10000"/>
              </a:spcBef>
              <a:buClr>
                <a:srgbClr val="FF832F"/>
              </a:buClr>
              <a:buSzPct val="105000"/>
              <a:buFont typeface="Wingdings" pitchFamily="2" charset="2"/>
              <a:buChar char="§"/>
            </a:pPr>
            <a:endParaRPr lang="en-AU" sz="2200" dirty="0" smtClean="0"/>
          </a:p>
          <a:p>
            <a:pPr marL="209550" indent="-209550" eaLnBrk="0" hangingPunct="0">
              <a:lnSpc>
                <a:spcPct val="90000"/>
              </a:lnSpc>
              <a:spcBef>
                <a:spcPct val="10000"/>
              </a:spcBef>
              <a:buClr>
                <a:srgbClr val="FF832F"/>
              </a:buClr>
              <a:buSzPct val="105000"/>
              <a:buFont typeface="Wingdings" pitchFamily="2" charset="2"/>
              <a:buChar char="§"/>
            </a:pPr>
            <a:endParaRPr lang="en-AU" sz="2200" dirty="0" smtClean="0"/>
          </a:p>
          <a:p>
            <a:pPr marL="209550" indent="-209550" eaLnBrk="0" hangingPunct="0">
              <a:lnSpc>
                <a:spcPct val="90000"/>
              </a:lnSpc>
              <a:spcBef>
                <a:spcPct val="10000"/>
              </a:spcBef>
              <a:buClr>
                <a:srgbClr val="FF832F"/>
              </a:buClr>
              <a:buSzPct val="105000"/>
              <a:buFont typeface="Wingdings" pitchFamily="2" charset="2"/>
              <a:buChar char="§"/>
            </a:pPr>
            <a:endParaRPr lang="en-AU"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AutoShape 1"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6" name="AutoShape 2" descr="Inline image"/>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8"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11" name="Title 1"/>
          <p:cNvSpPr>
            <a:spLocks noGrp="1"/>
          </p:cNvSpPr>
          <p:nvPr>
            <p:ph type="title"/>
          </p:nvPr>
        </p:nvSpPr>
        <p:spPr>
          <a:xfrm>
            <a:off x="2971800" y="533400"/>
            <a:ext cx="6096000" cy="1143000"/>
          </a:xfrm>
        </p:spPr>
        <p:txBody>
          <a:bodyPr>
            <a:normAutofit fontScale="90000"/>
          </a:bodyPr>
          <a:lstStyle/>
          <a:p>
            <a:r>
              <a:rPr lang="en-US" sz="3600" b="1" dirty="0">
                <a:solidFill>
                  <a:schemeClr val="accent6">
                    <a:lumMod val="75000"/>
                  </a:schemeClr>
                </a:solidFill>
              </a:rPr>
              <a:t>Corporate Procedures-Quality </a:t>
            </a:r>
            <a:r>
              <a:rPr lang="en-US" sz="3600" b="1" dirty="0" smtClean="0">
                <a:solidFill>
                  <a:schemeClr val="accent6">
                    <a:lumMod val="75000"/>
                  </a:schemeClr>
                </a:solidFill>
              </a:rPr>
              <a:t>(cont..)</a:t>
            </a:r>
            <a:endParaRPr lang="en-US" sz="3600" dirty="0">
              <a:solidFill>
                <a:schemeClr val="accent6">
                  <a:lumMod val="75000"/>
                </a:schemeClr>
              </a:solidFill>
            </a:endParaRPr>
          </a:p>
        </p:txBody>
      </p:sp>
      <p:sp>
        <p:nvSpPr>
          <p:cNvPr id="12" name="Content Placeholder 5"/>
          <p:cNvSpPr>
            <a:spLocks noGrp="1"/>
          </p:cNvSpPr>
          <p:nvPr>
            <p:ph idx="1"/>
          </p:nvPr>
        </p:nvSpPr>
        <p:spPr>
          <a:xfrm>
            <a:off x="457200" y="1828800"/>
            <a:ext cx="8229600" cy="5029200"/>
          </a:xfrm>
        </p:spPr>
        <p:txBody>
          <a:bodyPr>
            <a:normAutofit/>
          </a:bodyPr>
          <a:lstStyle/>
          <a:p>
            <a:pPr marL="209550" lvl="0" indent="-209550" eaLnBrk="0" hangingPunct="0">
              <a:lnSpc>
                <a:spcPct val="90000"/>
              </a:lnSpc>
              <a:spcBef>
                <a:spcPct val="10000"/>
              </a:spcBef>
              <a:buClr>
                <a:srgbClr val="FF832F"/>
              </a:buClr>
              <a:buSzPct val="105000"/>
              <a:buFont typeface="Wingdings" pitchFamily="2" charset="2"/>
              <a:buChar char="§"/>
            </a:pPr>
            <a:r>
              <a:rPr lang="en-AU" b="1" u="sng" dirty="0" smtClean="0"/>
              <a:t>SBT-QAM-PR-002 -Procedures</a:t>
            </a:r>
            <a:endParaRPr lang="en-AU" b="1" u="sng" dirty="0"/>
          </a:p>
          <a:p>
            <a:pPr marL="0" indent="0" algn="just">
              <a:buNone/>
            </a:pPr>
            <a:r>
              <a:rPr lang="en-US" sz="2200" dirty="0"/>
              <a:t>This procedure describes the Company’s guidelines on the preparation of procedures to ensure that system procedures are consistent with the requirements of Quality Standards as well as Company policies. </a:t>
            </a:r>
            <a:endParaRPr lang="en-US" sz="2200" dirty="0" smtClean="0"/>
          </a:p>
          <a:p>
            <a:pPr algn="just">
              <a:buFont typeface="Wingdings" panose="05000000000000000000" pitchFamily="2" charset="2"/>
              <a:buChar char="Ø"/>
            </a:pPr>
            <a:r>
              <a:rPr lang="en-US" sz="2200" b="1" dirty="0" smtClean="0"/>
              <a:t>At </a:t>
            </a:r>
            <a:r>
              <a:rPr lang="en-US" sz="2200" b="1" dirty="0"/>
              <a:t>Corporate Level, </a:t>
            </a:r>
            <a:r>
              <a:rPr lang="en-US" sz="2200" dirty="0"/>
              <a:t>the Managing Director and </a:t>
            </a:r>
            <a:r>
              <a:rPr lang="en-US" sz="2200" dirty="0" smtClean="0"/>
              <a:t>Business Partner </a:t>
            </a:r>
            <a:r>
              <a:rPr lang="en-US" sz="2200" dirty="0"/>
              <a:t>– H</a:t>
            </a:r>
            <a:r>
              <a:rPr lang="en-US" sz="2200" dirty="0" smtClean="0"/>
              <a:t>SSEQS </a:t>
            </a:r>
            <a:r>
              <a:rPr lang="en-US" sz="2200" dirty="0"/>
              <a:t>are responsible to ensure Corporate procedures are in compliance with </a:t>
            </a:r>
            <a:r>
              <a:rPr lang="en-US" sz="2200" dirty="0" smtClean="0"/>
              <a:t>SBT Management system.</a:t>
            </a:r>
            <a:endParaRPr lang="en-US" sz="2200" dirty="0"/>
          </a:p>
          <a:p>
            <a:pPr algn="just">
              <a:buFont typeface="Wingdings" panose="05000000000000000000" pitchFamily="2" charset="2"/>
              <a:buChar char="Ø"/>
            </a:pPr>
            <a:r>
              <a:rPr lang="en-US" sz="2200" b="1" dirty="0"/>
              <a:t>At Project Level, </a:t>
            </a:r>
            <a:r>
              <a:rPr lang="en-US" sz="2200" dirty="0"/>
              <a:t>Project Management Team and Project Quality Representative are responsible to ensure that </a:t>
            </a:r>
            <a:r>
              <a:rPr lang="en-US" sz="2200" dirty="0" smtClean="0"/>
              <a:t>SBT </a:t>
            </a:r>
            <a:r>
              <a:rPr lang="en-US" sz="2200" dirty="0"/>
              <a:t>Procedures are communicated, implemented and maintained.</a:t>
            </a:r>
          </a:p>
          <a:p>
            <a:pPr algn="just">
              <a:buFont typeface="Wingdings" panose="05000000000000000000" pitchFamily="2" charset="2"/>
              <a:buChar char="Ø"/>
            </a:pPr>
            <a:r>
              <a:rPr lang="en-US" sz="2200" b="1" dirty="0"/>
              <a:t>Corporate Systems Representative </a:t>
            </a:r>
            <a:r>
              <a:rPr lang="en-US" sz="2200" dirty="0"/>
              <a:t>is responsible to ensure latest versions of </a:t>
            </a:r>
            <a:r>
              <a:rPr lang="en-US" sz="2200" dirty="0" smtClean="0"/>
              <a:t>SBT </a:t>
            </a:r>
            <a:r>
              <a:rPr lang="en-US" sz="2200" dirty="0"/>
              <a:t>Procedures and SOP’s are uploaded into the company </a:t>
            </a:r>
            <a:r>
              <a:rPr lang="en-US" sz="2200" dirty="0" smtClean="0"/>
              <a:t>Server.</a:t>
            </a:r>
            <a:endParaRPr lang="en-US" sz="2200" dirty="0"/>
          </a:p>
          <a:p>
            <a:pPr marL="0" indent="0">
              <a:buNone/>
            </a:pP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667000" y="533400"/>
            <a:ext cx="6172200" cy="1143000"/>
          </a:xfrm>
        </p:spPr>
        <p:txBody>
          <a:bodyPr>
            <a:noAutofit/>
          </a:bodyPr>
          <a:lstStyle/>
          <a:p>
            <a:r>
              <a:rPr lang="en-US" sz="3600" b="1" dirty="0">
                <a:solidFill>
                  <a:schemeClr val="accent6">
                    <a:lumMod val="75000"/>
                  </a:schemeClr>
                </a:solidFill>
              </a:rPr>
              <a:t>Corporate Procedures-Quality </a:t>
            </a:r>
            <a:r>
              <a:rPr lang="en-US" sz="3600" b="1" dirty="0" smtClean="0">
                <a:solidFill>
                  <a:schemeClr val="accent6">
                    <a:lumMod val="75000"/>
                  </a:schemeClr>
                </a:solidFill>
              </a:rPr>
              <a:t>(cont..)</a:t>
            </a:r>
            <a:endParaRPr lang="en-US" sz="3600" dirty="0">
              <a:solidFill>
                <a:schemeClr val="accent6">
                  <a:lumMod val="75000"/>
                </a:schemeClr>
              </a:solidFill>
            </a:endParaRPr>
          </a:p>
        </p:txBody>
      </p:sp>
      <p:sp>
        <p:nvSpPr>
          <p:cNvPr id="5" name="Content Placeholder 5"/>
          <p:cNvSpPr>
            <a:spLocks noGrp="1"/>
          </p:cNvSpPr>
          <p:nvPr>
            <p:ph idx="1"/>
          </p:nvPr>
        </p:nvSpPr>
        <p:spPr>
          <a:xfrm>
            <a:off x="457200" y="2362200"/>
            <a:ext cx="8229600" cy="5029200"/>
          </a:xfrm>
        </p:spPr>
        <p:txBody>
          <a:bodyPr/>
          <a:lstStyle/>
          <a:p>
            <a:pPr marL="209550" lvl="0" indent="-209550" eaLnBrk="0" hangingPunct="0">
              <a:lnSpc>
                <a:spcPct val="90000"/>
              </a:lnSpc>
              <a:spcBef>
                <a:spcPct val="10000"/>
              </a:spcBef>
              <a:buClr>
                <a:srgbClr val="FF832F"/>
              </a:buClr>
              <a:buSzPct val="105000"/>
              <a:buFont typeface="Wingdings" pitchFamily="2" charset="2"/>
              <a:buChar char="§"/>
            </a:pPr>
            <a:r>
              <a:rPr lang="en-AU" b="1" u="sng" dirty="0" smtClean="0"/>
              <a:t>SBT-QAM-PR-003 –Project Management System</a:t>
            </a:r>
            <a:endParaRPr lang="en-AU" b="1" u="sng" dirty="0"/>
          </a:p>
          <a:p>
            <a:pPr marL="0" indent="0" algn="just">
              <a:buNone/>
            </a:pPr>
            <a:r>
              <a:rPr lang="en-US" sz="2200" dirty="0"/>
              <a:t>This procedure describes the Company’s requirements for the preparation of Project Management system documentation including Project Management Plan in order to ensure that project documents are in line </a:t>
            </a:r>
            <a:r>
              <a:rPr lang="en-US" sz="2200" dirty="0" smtClean="0"/>
              <a:t>with Management System.</a:t>
            </a:r>
            <a:endParaRPr lang="en-US" sz="2200" dirty="0"/>
          </a:p>
        </p:txBody>
      </p:sp>
      <p:pic>
        <p:nvPicPr>
          <p:cNvPr id="6"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200400" y="274638"/>
            <a:ext cx="5638800" cy="1143000"/>
          </a:xfrm>
        </p:spPr>
        <p:txBody>
          <a:bodyPr>
            <a:noAutofit/>
          </a:bodyPr>
          <a:lstStyle/>
          <a:p>
            <a:r>
              <a:rPr lang="en-US" sz="3600" b="1" dirty="0">
                <a:solidFill>
                  <a:schemeClr val="accent6">
                    <a:lumMod val="75000"/>
                  </a:schemeClr>
                </a:solidFill>
              </a:rPr>
              <a:t>Corporate Procedures-Quality </a:t>
            </a:r>
            <a:r>
              <a:rPr lang="en-US" sz="3600" b="1" dirty="0" smtClean="0">
                <a:solidFill>
                  <a:schemeClr val="accent6">
                    <a:lumMod val="75000"/>
                  </a:schemeClr>
                </a:solidFill>
              </a:rPr>
              <a:t>(cont..)</a:t>
            </a:r>
            <a:endParaRPr lang="en-US" sz="3600" dirty="0">
              <a:solidFill>
                <a:schemeClr val="accent6">
                  <a:lumMod val="75000"/>
                </a:schemeClr>
              </a:solidFill>
            </a:endParaRPr>
          </a:p>
        </p:txBody>
      </p:sp>
      <p:sp>
        <p:nvSpPr>
          <p:cNvPr id="5" name="Content Placeholder 5"/>
          <p:cNvSpPr>
            <a:spLocks noGrp="1"/>
          </p:cNvSpPr>
          <p:nvPr>
            <p:ph idx="1"/>
          </p:nvPr>
        </p:nvSpPr>
        <p:spPr>
          <a:xfrm>
            <a:off x="457200" y="1828800"/>
            <a:ext cx="8229600" cy="5029200"/>
          </a:xfrm>
        </p:spPr>
        <p:txBody>
          <a:bodyPr/>
          <a:lstStyle/>
          <a:p>
            <a:pPr marL="209550" lvl="0" indent="-209550" eaLnBrk="0" hangingPunct="0">
              <a:lnSpc>
                <a:spcPct val="90000"/>
              </a:lnSpc>
              <a:spcBef>
                <a:spcPct val="10000"/>
              </a:spcBef>
              <a:buClr>
                <a:srgbClr val="FF832F"/>
              </a:buClr>
              <a:buSzPct val="105000"/>
              <a:buFont typeface="Wingdings" pitchFamily="2" charset="2"/>
              <a:buChar char="§"/>
            </a:pPr>
            <a:r>
              <a:rPr lang="en-AU" b="1" u="sng" dirty="0" smtClean="0"/>
              <a:t>SBT-QAM-PR-004 –Quality Assurance Audit</a:t>
            </a:r>
            <a:endParaRPr lang="en-AU" b="1" u="sng" dirty="0"/>
          </a:p>
          <a:p>
            <a:pPr marL="0" indent="0" algn="just">
              <a:buNone/>
            </a:pPr>
            <a:r>
              <a:rPr lang="en-US" sz="2000" dirty="0"/>
              <a:t>This procedure describes the Company’s guidelines on quality assurance audits at all business </a:t>
            </a:r>
            <a:r>
              <a:rPr lang="en-US" sz="2000" dirty="0" smtClean="0"/>
              <a:t>levels. These </a:t>
            </a:r>
            <a:r>
              <a:rPr lang="en-US" sz="2000" dirty="0"/>
              <a:t>audits are essential for the Company to:</a:t>
            </a:r>
          </a:p>
          <a:p>
            <a:pPr algn="just">
              <a:buFont typeface="Wingdings" panose="05000000000000000000" pitchFamily="2" charset="2"/>
              <a:buChar char="Ø"/>
            </a:pPr>
            <a:r>
              <a:rPr lang="en-US" sz="2000" dirty="0" smtClean="0"/>
              <a:t>Assess </a:t>
            </a:r>
            <a:r>
              <a:rPr lang="en-US" sz="2000" dirty="0"/>
              <a:t>and monitor business </a:t>
            </a:r>
            <a:r>
              <a:rPr lang="en-US" sz="2000" dirty="0" smtClean="0"/>
              <a:t>performance.</a:t>
            </a:r>
            <a:endParaRPr lang="en-US" sz="2000" dirty="0"/>
          </a:p>
          <a:p>
            <a:pPr algn="just">
              <a:buFont typeface="Wingdings" panose="05000000000000000000" pitchFamily="2" charset="2"/>
              <a:buChar char="Ø"/>
            </a:pPr>
            <a:r>
              <a:rPr lang="en-US" sz="2000" dirty="0" smtClean="0"/>
              <a:t>Ensure </a:t>
            </a:r>
            <a:r>
              <a:rPr lang="en-US" sz="2000" dirty="0"/>
              <a:t>the system is properly implemented in compliance with </a:t>
            </a:r>
            <a:r>
              <a:rPr lang="en-US" sz="2000" dirty="0" smtClean="0"/>
              <a:t>ISO 9001 </a:t>
            </a:r>
            <a:r>
              <a:rPr lang="en-US" sz="2000" dirty="0"/>
              <a:t>standard, contractual and regulatory requirements.</a:t>
            </a:r>
          </a:p>
          <a:p>
            <a:pPr algn="just">
              <a:buFont typeface="Wingdings" panose="05000000000000000000" pitchFamily="2" charset="2"/>
              <a:buChar char="Ø"/>
            </a:pPr>
            <a:r>
              <a:rPr lang="en-US" sz="2000" dirty="0" smtClean="0"/>
              <a:t>Ensure </a:t>
            </a:r>
            <a:r>
              <a:rPr lang="en-US" sz="2000" dirty="0"/>
              <a:t>the system can be continually improved.procedures are consistent with the requirements of Quality Standards as well as Company policies. </a:t>
            </a:r>
            <a:endParaRPr lang="en-US" sz="2000" dirty="0" smtClean="0"/>
          </a:p>
          <a:p>
            <a:pPr marL="0" indent="0" algn="just">
              <a:buNone/>
            </a:pPr>
            <a:r>
              <a:rPr lang="en-US" sz="2000" dirty="0" smtClean="0"/>
              <a:t>The Frequency of Audit is as below:</a:t>
            </a:r>
          </a:p>
          <a:p>
            <a:pPr algn="just">
              <a:buFont typeface="Wingdings" panose="05000000000000000000" pitchFamily="2" charset="2"/>
              <a:buChar char="ü"/>
            </a:pPr>
            <a:r>
              <a:rPr lang="en-US" sz="2000" dirty="0" smtClean="0"/>
              <a:t>Level </a:t>
            </a:r>
            <a:r>
              <a:rPr lang="en-US" sz="2000" dirty="0"/>
              <a:t>I audit – Conducted by Project Quality Manager on Quarterly </a:t>
            </a:r>
            <a:r>
              <a:rPr lang="en-US" sz="2000" dirty="0" smtClean="0"/>
              <a:t>Basis.</a:t>
            </a:r>
            <a:endParaRPr lang="en-US" sz="2000" dirty="0"/>
          </a:p>
          <a:p>
            <a:pPr algn="just">
              <a:buFont typeface="Wingdings" panose="05000000000000000000" pitchFamily="2" charset="2"/>
              <a:buChar char="ü"/>
            </a:pPr>
            <a:r>
              <a:rPr lang="en-US" sz="2000" dirty="0" smtClean="0"/>
              <a:t>Level </a:t>
            </a:r>
            <a:r>
              <a:rPr lang="en-US" sz="2000" dirty="0"/>
              <a:t>II Audit – Conducted by Business Unit Team once in a 6 </a:t>
            </a:r>
            <a:r>
              <a:rPr lang="en-US" sz="2000" dirty="0" smtClean="0"/>
              <a:t>months.</a:t>
            </a:r>
            <a:endParaRPr lang="en-US" sz="2000" dirty="0"/>
          </a:p>
          <a:p>
            <a:pPr algn="just">
              <a:buFont typeface="Wingdings" panose="05000000000000000000" pitchFamily="2" charset="2"/>
              <a:buChar char="ü"/>
            </a:pPr>
            <a:r>
              <a:rPr lang="en-US" sz="2000" dirty="0" smtClean="0"/>
              <a:t>Level </a:t>
            </a:r>
            <a:r>
              <a:rPr lang="en-US" sz="2000" dirty="0"/>
              <a:t>III Audit – Conducted by Third Party for Certification </a:t>
            </a:r>
            <a:r>
              <a:rPr lang="en-US" sz="2000" dirty="0" smtClean="0"/>
              <a:t>Purpose.</a:t>
            </a:r>
          </a:p>
          <a:p>
            <a:pPr algn="just">
              <a:buFont typeface="Wingdings" panose="05000000000000000000" pitchFamily="2" charset="2"/>
              <a:buChar char="ü"/>
            </a:pPr>
            <a:r>
              <a:rPr lang="en-US" sz="2000" dirty="0" smtClean="0"/>
              <a:t>Quality </a:t>
            </a:r>
            <a:r>
              <a:rPr lang="en-US" sz="2000" dirty="0"/>
              <a:t>Walk- Conducted by Project Quality Manager on </a:t>
            </a:r>
            <a:r>
              <a:rPr lang="en-US" sz="2000" dirty="0" smtClean="0"/>
              <a:t>Monthly Basis.</a:t>
            </a:r>
            <a:endParaRPr lang="en-US" sz="2000" dirty="0"/>
          </a:p>
          <a:p>
            <a:pPr algn="just">
              <a:buFont typeface="Wingdings" panose="05000000000000000000" pitchFamily="2" charset="2"/>
              <a:buChar char="ü"/>
            </a:pPr>
            <a:endParaRPr lang="en-US" sz="2000" dirty="0"/>
          </a:p>
          <a:p>
            <a:pPr algn="just">
              <a:buFont typeface="Wingdings" panose="05000000000000000000" pitchFamily="2" charset="2"/>
              <a:buChar char="Ø"/>
            </a:pPr>
            <a:endParaRPr lang="en-US" sz="2000" dirty="0" smtClean="0"/>
          </a:p>
        </p:txBody>
      </p:sp>
      <p:pic>
        <p:nvPicPr>
          <p:cNvPr id="6"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71800" y="457200"/>
            <a:ext cx="5791200" cy="1143000"/>
          </a:xfrm>
        </p:spPr>
        <p:txBody>
          <a:bodyPr>
            <a:noAutofit/>
          </a:bodyPr>
          <a:lstStyle/>
          <a:p>
            <a:r>
              <a:rPr lang="en-US" sz="3600" b="1" dirty="0">
                <a:solidFill>
                  <a:schemeClr val="accent6">
                    <a:lumMod val="75000"/>
                  </a:schemeClr>
                </a:solidFill>
              </a:rPr>
              <a:t>Corporate Procedures-Quality </a:t>
            </a:r>
            <a:r>
              <a:rPr lang="en-US" sz="3600" b="1" dirty="0" smtClean="0">
                <a:solidFill>
                  <a:schemeClr val="accent6">
                    <a:lumMod val="75000"/>
                  </a:schemeClr>
                </a:solidFill>
              </a:rPr>
              <a:t>(cont..)</a:t>
            </a:r>
            <a:endParaRPr lang="en-US" sz="3600" dirty="0">
              <a:solidFill>
                <a:schemeClr val="accent6">
                  <a:lumMod val="75000"/>
                </a:schemeClr>
              </a:solidFill>
            </a:endParaRPr>
          </a:p>
        </p:txBody>
      </p:sp>
      <p:sp>
        <p:nvSpPr>
          <p:cNvPr id="5" name="Content Placeholder 5"/>
          <p:cNvSpPr>
            <a:spLocks noGrp="1"/>
          </p:cNvSpPr>
          <p:nvPr>
            <p:ph idx="1"/>
          </p:nvPr>
        </p:nvSpPr>
        <p:spPr>
          <a:xfrm>
            <a:off x="457200" y="1676400"/>
            <a:ext cx="8229600" cy="5029200"/>
          </a:xfrm>
        </p:spPr>
        <p:txBody>
          <a:bodyPr/>
          <a:lstStyle/>
          <a:p>
            <a:pPr marL="209550" lvl="0" indent="-209550" eaLnBrk="0" hangingPunct="0">
              <a:lnSpc>
                <a:spcPct val="90000"/>
              </a:lnSpc>
              <a:spcBef>
                <a:spcPct val="10000"/>
              </a:spcBef>
              <a:buClr>
                <a:srgbClr val="FF832F"/>
              </a:buClr>
              <a:buSzPct val="105000"/>
              <a:buFont typeface="Wingdings" pitchFamily="2" charset="2"/>
              <a:buChar char="§"/>
            </a:pPr>
            <a:r>
              <a:rPr lang="en-AU" b="1" u="sng" dirty="0" smtClean="0"/>
              <a:t>SBT-QAM-PR-005 –Internal Non Conformity</a:t>
            </a:r>
            <a:endParaRPr lang="en-AU" b="1" u="sng" dirty="0"/>
          </a:p>
          <a:p>
            <a:pPr marL="0" indent="0" algn="just">
              <a:buNone/>
            </a:pPr>
            <a:r>
              <a:rPr lang="en-US" sz="1800" dirty="0"/>
              <a:t>This procedure describes the Company’s guidelines on managing internal non-conforming items or services</a:t>
            </a:r>
            <a:r>
              <a:rPr lang="en-US" sz="1800" dirty="0" smtClean="0"/>
              <a:t>. The </a:t>
            </a:r>
            <a:r>
              <a:rPr lang="en-US" sz="1800" dirty="0"/>
              <a:t>purpose of this procedure is to:</a:t>
            </a:r>
          </a:p>
          <a:p>
            <a:pPr marL="0" indent="0" algn="just">
              <a:buNone/>
            </a:pPr>
            <a:r>
              <a:rPr lang="en-US" sz="1800" dirty="0" smtClean="0"/>
              <a:t>Identify</a:t>
            </a:r>
            <a:r>
              <a:rPr lang="en-US" sz="1800" dirty="0"/>
              <a:t>, document and manage items that do not meet the agreed requirements and prevent their inadvertent use.</a:t>
            </a:r>
          </a:p>
          <a:p>
            <a:pPr marL="0" indent="0" algn="just">
              <a:buNone/>
            </a:pPr>
            <a:r>
              <a:rPr lang="en-US" sz="1800" dirty="0" smtClean="0"/>
              <a:t>Identify </a:t>
            </a:r>
            <a:r>
              <a:rPr lang="en-US" sz="1800" dirty="0"/>
              <a:t>improvement areas by recording and analyzing causes of not meeting the agreed requirements</a:t>
            </a:r>
            <a:r>
              <a:rPr lang="en-US" sz="1800" dirty="0" smtClean="0"/>
              <a:t>.-</a:t>
            </a:r>
            <a:r>
              <a:rPr lang="en-US" sz="1800" b="1" dirty="0" smtClean="0"/>
              <a:t>OFI is issued</a:t>
            </a:r>
            <a:endParaRPr lang="en-US" sz="1800" b="1" dirty="0"/>
          </a:p>
          <a:p>
            <a:pPr marL="0" indent="0" algn="just">
              <a:buNone/>
            </a:pPr>
            <a:r>
              <a:rPr lang="en-US" sz="1800" dirty="0" smtClean="0"/>
              <a:t>Control </a:t>
            </a:r>
            <a:r>
              <a:rPr lang="en-US" sz="1800" dirty="0"/>
              <a:t>the quality internal failure cost i.e. the cost of defects and nonconformities to enable actions to be taken to reduce the project cost.. </a:t>
            </a:r>
          </a:p>
          <a:p>
            <a:pPr marL="0" indent="0" algn="just">
              <a:buNone/>
            </a:pPr>
            <a:endParaRPr lang="en-US" sz="2000" dirty="0" smtClean="0"/>
          </a:p>
        </p:txBody>
      </p:sp>
      <p:pic>
        <p:nvPicPr>
          <p:cNvPr id="6"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448" y="4724400"/>
            <a:ext cx="806767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2971800" y="274638"/>
            <a:ext cx="5105400" cy="1143000"/>
          </a:xfrm>
        </p:spPr>
        <p:txBody>
          <a:bodyPr>
            <a:noAutofit/>
          </a:bodyPr>
          <a:lstStyle/>
          <a:p>
            <a:r>
              <a:rPr lang="en-US" sz="3600" b="1" dirty="0">
                <a:solidFill>
                  <a:schemeClr val="accent6">
                    <a:lumMod val="75000"/>
                  </a:schemeClr>
                </a:solidFill>
              </a:rPr>
              <a:t>Corporate Procedures-Quality </a:t>
            </a:r>
            <a:r>
              <a:rPr lang="en-US" sz="3600" b="1" dirty="0" smtClean="0">
                <a:solidFill>
                  <a:schemeClr val="accent6">
                    <a:lumMod val="75000"/>
                  </a:schemeClr>
                </a:solidFill>
              </a:rPr>
              <a:t>(cont..)</a:t>
            </a:r>
            <a:endParaRPr lang="en-US" sz="3600" dirty="0">
              <a:solidFill>
                <a:schemeClr val="accent6">
                  <a:lumMod val="75000"/>
                </a:schemeClr>
              </a:solidFill>
            </a:endParaRPr>
          </a:p>
        </p:txBody>
      </p:sp>
      <p:sp>
        <p:nvSpPr>
          <p:cNvPr id="6" name="Content Placeholder 5"/>
          <p:cNvSpPr>
            <a:spLocks noGrp="1"/>
          </p:cNvSpPr>
          <p:nvPr>
            <p:ph idx="1"/>
          </p:nvPr>
        </p:nvSpPr>
        <p:spPr>
          <a:xfrm>
            <a:off x="457200" y="1752600"/>
            <a:ext cx="8229600" cy="5029200"/>
          </a:xfrm>
        </p:spPr>
        <p:txBody>
          <a:bodyPr/>
          <a:lstStyle/>
          <a:p>
            <a:pPr marL="209550" lvl="0" indent="-209550" eaLnBrk="0" hangingPunct="0">
              <a:lnSpc>
                <a:spcPct val="90000"/>
              </a:lnSpc>
              <a:spcBef>
                <a:spcPct val="10000"/>
              </a:spcBef>
              <a:buClr>
                <a:srgbClr val="FF832F"/>
              </a:buClr>
              <a:buSzPct val="105000"/>
              <a:buFont typeface="Wingdings" pitchFamily="2" charset="2"/>
              <a:buChar char="§"/>
            </a:pPr>
            <a:r>
              <a:rPr lang="en-AU" b="1" u="sng" dirty="0" smtClean="0"/>
              <a:t>SBT-QAM-PR-006 –Control of Quality Cost</a:t>
            </a:r>
            <a:endParaRPr lang="en-AU" b="1" u="sng" dirty="0"/>
          </a:p>
          <a:p>
            <a:pPr marL="0" indent="0" algn="just">
              <a:buNone/>
            </a:pPr>
            <a:r>
              <a:rPr lang="en-US" sz="2400" dirty="0"/>
              <a:t>This procedure describes the Company’s guidelines on project reporting of quality internal failure cost i.e. the cost of defects and nonconformities to enable actions to be taken to reduce the project cost. </a:t>
            </a:r>
            <a:endParaRPr lang="en-US" sz="2400" dirty="0" smtClean="0"/>
          </a:p>
          <a:p>
            <a:pPr marL="0" indent="0" algn="just">
              <a:buNone/>
            </a:pPr>
            <a:endParaRPr lang="en-US" sz="2400" dirty="0"/>
          </a:p>
          <a:p>
            <a:pPr algn="just">
              <a:buFont typeface="Wingdings" panose="05000000000000000000" pitchFamily="2" charset="2"/>
              <a:buChar char="Ø"/>
            </a:pPr>
            <a:r>
              <a:rPr lang="en-US" sz="2400" dirty="0" smtClean="0"/>
              <a:t>The </a:t>
            </a:r>
            <a:r>
              <a:rPr lang="en-US" sz="2400" dirty="0"/>
              <a:t>Operations team and accounting department is responsible to collect the cost related to non-conformance, allocate these costs to the agreed activities and provide the data to quality Department for quality cost assessment.</a:t>
            </a:r>
          </a:p>
          <a:p>
            <a:pPr algn="just">
              <a:buFont typeface="Wingdings" panose="05000000000000000000" pitchFamily="2" charset="2"/>
              <a:buChar char="Ø"/>
            </a:pPr>
            <a:r>
              <a:rPr lang="en-US" sz="2400" dirty="0"/>
              <a:t>The quality management is responsible to </a:t>
            </a:r>
            <a:r>
              <a:rPr lang="en-US" sz="2400" dirty="0" smtClean="0"/>
              <a:t>analyze </a:t>
            </a:r>
            <a:r>
              <a:rPr lang="en-US" sz="2400" dirty="0"/>
              <a:t>the quality related costs and take appropriate controlling actions.</a:t>
            </a:r>
            <a:endParaRPr lang="en-US" sz="2400" dirty="0" smtClean="0"/>
          </a:p>
          <a:p>
            <a:pPr algn="just">
              <a:buFont typeface="Wingdings" panose="05000000000000000000" pitchFamily="2" charset="2"/>
              <a:buChar char="Ø"/>
            </a:pPr>
            <a:endParaRPr lang="en-US" sz="1800" dirty="0"/>
          </a:p>
          <a:p>
            <a:pPr marL="0" indent="0" algn="just">
              <a:buNone/>
            </a:pPr>
            <a:endParaRPr lang="en-US" sz="20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352800" y="274638"/>
            <a:ext cx="5334000" cy="1143000"/>
          </a:xfrm>
        </p:spPr>
        <p:txBody>
          <a:bodyPr>
            <a:noAutofit/>
          </a:bodyPr>
          <a:lstStyle/>
          <a:p>
            <a:r>
              <a:rPr lang="en-US" sz="3600" b="1" dirty="0">
                <a:solidFill>
                  <a:schemeClr val="accent6">
                    <a:lumMod val="75000"/>
                  </a:schemeClr>
                </a:solidFill>
              </a:rPr>
              <a:t>Corporate Procedures-Quality </a:t>
            </a:r>
            <a:r>
              <a:rPr lang="en-US" sz="3600" b="1" dirty="0" smtClean="0">
                <a:solidFill>
                  <a:schemeClr val="accent6">
                    <a:lumMod val="75000"/>
                  </a:schemeClr>
                </a:solidFill>
              </a:rPr>
              <a:t>(cont..)</a:t>
            </a:r>
            <a:endParaRPr lang="en-US" sz="3600" dirty="0">
              <a:solidFill>
                <a:schemeClr val="accent6">
                  <a:lumMod val="75000"/>
                </a:schemeClr>
              </a:solidFill>
            </a:endParaRPr>
          </a:p>
        </p:txBody>
      </p:sp>
      <p:sp>
        <p:nvSpPr>
          <p:cNvPr id="5" name="Content Placeholder 5"/>
          <p:cNvSpPr>
            <a:spLocks noGrp="1"/>
          </p:cNvSpPr>
          <p:nvPr>
            <p:ph idx="1"/>
          </p:nvPr>
        </p:nvSpPr>
        <p:spPr>
          <a:xfrm>
            <a:off x="457200" y="2057400"/>
            <a:ext cx="8229600" cy="5029200"/>
          </a:xfrm>
        </p:spPr>
        <p:txBody>
          <a:bodyPr>
            <a:normAutofit lnSpcReduction="10000"/>
          </a:bodyPr>
          <a:lstStyle/>
          <a:p>
            <a:pPr marL="209550" lvl="0" indent="-209550" eaLnBrk="0" hangingPunct="0">
              <a:lnSpc>
                <a:spcPct val="90000"/>
              </a:lnSpc>
              <a:spcBef>
                <a:spcPct val="10000"/>
              </a:spcBef>
              <a:buClr>
                <a:srgbClr val="FF832F"/>
              </a:buClr>
              <a:buSzPct val="105000"/>
              <a:buFont typeface="Wingdings" pitchFamily="2" charset="2"/>
              <a:buChar char="§"/>
            </a:pPr>
            <a:r>
              <a:rPr lang="en-AU" b="1" u="sng" dirty="0" smtClean="0"/>
              <a:t>SBT-QAM-PR-007 –Quality Training</a:t>
            </a:r>
            <a:endParaRPr lang="en-AU" b="1" u="sng" dirty="0"/>
          </a:p>
          <a:p>
            <a:pPr marL="0" indent="0" algn="just">
              <a:buNone/>
            </a:pPr>
            <a:r>
              <a:rPr lang="en-US" sz="2000" dirty="0"/>
              <a:t>This procedure describes the Company’s guidelines on the </a:t>
            </a:r>
            <a:r>
              <a:rPr lang="en-US" sz="2000" dirty="0" smtClean="0"/>
              <a:t>SBT </a:t>
            </a:r>
            <a:r>
              <a:rPr lang="en-US" sz="2000" dirty="0"/>
              <a:t>Quality Training process. The purpose of quality training is </a:t>
            </a:r>
            <a:r>
              <a:rPr lang="en-US" sz="2000" dirty="0" smtClean="0"/>
              <a:t>to give :</a:t>
            </a:r>
            <a:endParaRPr lang="en-US" sz="2000" dirty="0"/>
          </a:p>
          <a:p>
            <a:pPr algn="just">
              <a:buFont typeface="Wingdings" panose="05000000000000000000" pitchFamily="2" charset="2"/>
              <a:buChar char="Ø"/>
            </a:pPr>
            <a:r>
              <a:rPr lang="en-US" sz="2000" dirty="0" smtClean="0"/>
              <a:t>An Overview </a:t>
            </a:r>
            <a:r>
              <a:rPr lang="en-US" sz="2000" dirty="0"/>
              <a:t>of ISO 9001 </a:t>
            </a:r>
            <a:r>
              <a:rPr lang="en-US" sz="2000" dirty="0" smtClean="0"/>
              <a:t>requirements.</a:t>
            </a:r>
            <a:endParaRPr lang="en-US" sz="2000" dirty="0"/>
          </a:p>
          <a:p>
            <a:pPr algn="just">
              <a:buFont typeface="Wingdings" panose="05000000000000000000" pitchFamily="2" charset="2"/>
              <a:buChar char="Ø"/>
            </a:pPr>
            <a:r>
              <a:rPr lang="en-US" sz="2000" dirty="0" smtClean="0"/>
              <a:t>Quality </a:t>
            </a:r>
            <a:r>
              <a:rPr lang="en-US" sz="2000" dirty="0"/>
              <a:t>Policy, Objective and Performance</a:t>
            </a:r>
          </a:p>
          <a:p>
            <a:pPr algn="just">
              <a:buFont typeface="Wingdings" panose="05000000000000000000" pitchFamily="2" charset="2"/>
              <a:buChar char="Ø"/>
            </a:pPr>
            <a:r>
              <a:rPr lang="en-US" sz="2000" dirty="0" smtClean="0"/>
              <a:t>Customer </a:t>
            </a:r>
            <a:r>
              <a:rPr lang="en-US" sz="2000" dirty="0"/>
              <a:t>Satisfaction</a:t>
            </a:r>
          </a:p>
          <a:p>
            <a:pPr algn="just">
              <a:buFont typeface="Wingdings" panose="05000000000000000000" pitchFamily="2" charset="2"/>
              <a:buChar char="Ø"/>
            </a:pPr>
            <a:r>
              <a:rPr lang="en-US" sz="2000" dirty="0" smtClean="0"/>
              <a:t>Non-conformance </a:t>
            </a:r>
            <a:r>
              <a:rPr lang="en-US" sz="2000" dirty="0"/>
              <a:t>Report and Opportunity For Improvement</a:t>
            </a:r>
          </a:p>
          <a:p>
            <a:pPr algn="just">
              <a:buFont typeface="Wingdings" panose="05000000000000000000" pitchFamily="2" charset="2"/>
              <a:buChar char="Ø"/>
            </a:pPr>
            <a:r>
              <a:rPr lang="en-US" sz="2000" dirty="0" smtClean="0"/>
              <a:t>Document </a:t>
            </a:r>
            <a:r>
              <a:rPr lang="en-US" sz="2000" dirty="0"/>
              <a:t>Control process</a:t>
            </a:r>
          </a:p>
          <a:p>
            <a:pPr algn="just">
              <a:buFont typeface="Wingdings" panose="05000000000000000000" pitchFamily="2" charset="2"/>
              <a:buChar char="Ø"/>
            </a:pPr>
            <a:r>
              <a:rPr lang="en-US" sz="2000" dirty="0" smtClean="0"/>
              <a:t>Continual </a:t>
            </a:r>
            <a:r>
              <a:rPr lang="en-US" sz="2000" dirty="0"/>
              <a:t>Improvement and </a:t>
            </a:r>
            <a:r>
              <a:rPr lang="en-US" sz="2000" dirty="0" smtClean="0"/>
              <a:t>Innovation</a:t>
            </a:r>
          </a:p>
          <a:p>
            <a:pPr marL="0" indent="0" algn="just">
              <a:buNone/>
            </a:pPr>
            <a:r>
              <a:rPr lang="en-US" sz="2000" dirty="0" smtClean="0"/>
              <a:t>Project </a:t>
            </a:r>
            <a:r>
              <a:rPr lang="en-US" sz="2000" dirty="0"/>
              <a:t>Quality Manager is responsible to develop and implement Quality Control Training at planned intervals</a:t>
            </a:r>
            <a:r>
              <a:rPr lang="en-US" sz="2000" dirty="0" smtClean="0"/>
              <a:t>.</a:t>
            </a:r>
            <a:endParaRPr lang="en-US" sz="2000" dirty="0"/>
          </a:p>
          <a:p>
            <a:pPr marL="0" indent="0" algn="just">
              <a:buNone/>
            </a:pPr>
            <a:r>
              <a:rPr lang="en-US" sz="2000" dirty="0"/>
              <a:t>At project level, Project Quality Manager shall liaison with HR Department to develop </a:t>
            </a:r>
            <a:r>
              <a:rPr lang="en-US" sz="2000" dirty="0" smtClean="0"/>
              <a:t>the Training Need analysis and Training matrix to implement </a:t>
            </a:r>
            <a:r>
              <a:rPr lang="en-US" sz="2000" dirty="0"/>
              <a:t>the </a:t>
            </a:r>
            <a:r>
              <a:rPr lang="en-US" sz="2000" dirty="0" smtClean="0"/>
              <a:t>Quality </a:t>
            </a:r>
            <a:r>
              <a:rPr lang="en-US" sz="2000" dirty="0"/>
              <a:t>Control </a:t>
            </a:r>
            <a:r>
              <a:rPr lang="en-US" sz="2000" dirty="0" smtClean="0"/>
              <a:t>Trainings for the Current Year .</a:t>
            </a:r>
          </a:p>
        </p:txBody>
      </p:sp>
      <p:pic>
        <p:nvPicPr>
          <p:cNvPr id="6"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514600" y="274638"/>
            <a:ext cx="6172200" cy="1143000"/>
          </a:xfrm>
        </p:spPr>
        <p:txBody>
          <a:bodyPr>
            <a:noAutofit/>
          </a:bodyPr>
          <a:lstStyle/>
          <a:p>
            <a:r>
              <a:rPr lang="en-US" sz="3600" b="1" dirty="0" smtClean="0">
                <a:solidFill>
                  <a:schemeClr val="accent6">
                    <a:lumMod val="75000"/>
                  </a:schemeClr>
                </a:solidFill>
              </a:rPr>
              <a:t>Quality Management System Training &amp; Induction</a:t>
            </a:r>
            <a:endParaRPr lang="en-US" sz="3600" dirty="0">
              <a:solidFill>
                <a:schemeClr val="accent6">
                  <a:lumMod val="75000"/>
                </a:schemeClr>
              </a:solidFill>
            </a:endParaRPr>
          </a:p>
        </p:txBody>
      </p:sp>
      <p:pic>
        <p:nvPicPr>
          <p:cNvPr id="6" name="Picture 1" descr="C:\Users\akshay.samudre\Downloads\Strong-Built-Logo.png"/>
          <p:cNvPicPr>
            <a:picLocks noChangeAspect="1" noChangeArrowheads="1"/>
          </p:cNvPicPr>
          <p:nvPr/>
        </p:nvPicPr>
        <p:blipFill>
          <a:blip r:embed="rId3" cstate="print"/>
          <a:srcRect/>
          <a:stretch>
            <a:fillRect/>
          </a:stretch>
        </p:blipFill>
        <p:spPr bwMode="auto">
          <a:xfrm>
            <a:off x="76200" y="76200"/>
            <a:ext cx="2590800" cy="1752600"/>
          </a:xfrm>
          <a:prstGeom prst="rect">
            <a:avLst/>
          </a:prstGeom>
          <a:noFill/>
        </p:spPr>
      </p:pic>
      <p:pic>
        <p:nvPicPr>
          <p:cNvPr id="7" name="Content Placeholder 6"/>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rot="5400000">
            <a:off x="1492699" y="1264103"/>
            <a:ext cx="2159999" cy="3541400"/>
          </a:xfr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5458198" y="1267205"/>
            <a:ext cx="2160001" cy="3535198"/>
          </a:xfrm>
          <a:prstGeom prst="rect">
            <a:avLst/>
          </a:prstGeom>
        </p:spPr>
      </p:pic>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1998" y="4498206"/>
            <a:ext cx="3352800" cy="2157594"/>
          </a:xfrm>
          <a:prstGeom prst="rect">
            <a:avLst/>
          </a:prstGeom>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70599" y="4498206"/>
            <a:ext cx="3535200" cy="2157594"/>
          </a:xfrm>
          <a:prstGeom prst="rect">
            <a:avLst/>
          </a:prstGeom>
        </p:spPr>
      </p:pic>
      <p:sp>
        <p:nvSpPr>
          <p:cNvPr id="17" name="Title 1"/>
          <p:cNvSpPr txBox="1">
            <a:spLocks/>
          </p:cNvSpPr>
          <p:nvPr/>
        </p:nvSpPr>
        <p:spPr>
          <a:xfrm>
            <a:off x="3179144" y="6280284"/>
            <a:ext cx="2438400" cy="571500"/>
          </a:xfrm>
          <a:prstGeom prst="rect">
            <a:avLst/>
          </a:prstGeom>
        </p:spPr>
        <p:style>
          <a:lnRef idx="1">
            <a:schemeClr val="accent6"/>
          </a:lnRef>
          <a:fillRef idx="3">
            <a:schemeClr val="accent6"/>
          </a:fillRef>
          <a:effectRef idx="2">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u="sng" spc="-150" dirty="0" smtClean="0">
                <a:solidFill>
                  <a:schemeClr val="accent2">
                    <a:lumMod val="75000"/>
                  </a:schemeClr>
                </a:solidFill>
              </a:rPr>
              <a:t>QMS &amp; HSE TRAINING</a:t>
            </a:r>
            <a:endParaRPr lang="en-US" sz="1800" u="sng" spc="-150" dirty="0">
              <a:solidFill>
                <a:schemeClr val="accent2">
                  <a:lumMod val="75000"/>
                </a:schemeClr>
              </a:solidFill>
            </a:endParaRPr>
          </a:p>
        </p:txBody>
      </p:sp>
    </p:spTree>
    <p:extLst>
      <p:ext uri="{BB962C8B-B14F-4D97-AF65-F5344CB8AC3E}">
        <p14:creationId xmlns:p14="http://schemas.microsoft.com/office/powerpoint/2010/main" val="3808021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514600" y="274638"/>
            <a:ext cx="6172200" cy="1143000"/>
          </a:xfrm>
        </p:spPr>
        <p:txBody>
          <a:bodyPr>
            <a:noAutofit/>
          </a:bodyPr>
          <a:lstStyle/>
          <a:p>
            <a:r>
              <a:rPr lang="en-US" sz="3600" b="1" dirty="0" smtClean="0">
                <a:solidFill>
                  <a:schemeClr val="accent6">
                    <a:lumMod val="75000"/>
                  </a:schemeClr>
                </a:solidFill>
              </a:rPr>
              <a:t>Quality Management System Training &amp; Induction</a:t>
            </a:r>
            <a:endParaRPr lang="en-US" sz="3600" dirty="0">
              <a:solidFill>
                <a:schemeClr val="accent6">
                  <a:lumMod val="75000"/>
                </a:schemeClr>
              </a:solidFill>
            </a:endParaRPr>
          </a:p>
        </p:txBody>
      </p:sp>
      <p:pic>
        <p:nvPicPr>
          <p:cNvPr id="6" name="Picture 1" descr="C:\Users\akshay.samudre\Downloads\Strong-Built-Logo.png"/>
          <p:cNvPicPr>
            <a:picLocks noChangeAspect="1" noChangeArrowheads="1"/>
          </p:cNvPicPr>
          <p:nvPr/>
        </p:nvPicPr>
        <p:blipFill>
          <a:blip r:embed="rId3" cstate="print"/>
          <a:srcRect/>
          <a:stretch>
            <a:fillRect/>
          </a:stretch>
        </p:blipFill>
        <p:spPr bwMode="auto">
          <a:xfrm>
            <a:off x="76200" y="76200"/>
            <a:ext cx="2590800" cy="1752600"/>
          </a:xfrm>
          <a:prstGeom prst="rect">
            <a:avLst/>
          </a:prstGeom>
          <a:noFill/>
        </p:spPr>
      </p:pic>
      <p:pic>
        <p:nvPicPr>
          <p:cNvPr id="7" name="Content Placeholder 6"/>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rot="5400000">
            <a:off x="1492699" y="1264103"/>
            <a:ext cx="2159999" cy="3541400"/>
          </a:xfr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5458198" y="1267205"/>
            <a:ext cx="2160001" cy="3535198"/>
          </a:xfrm>
          <a:prstGeom prst="rect">
            <a:avLst/>
          </a:prstGeom>
        </p:spPr>
      </p:pic>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1998" y="4498206"/>
            <a:ext cx="3352800" cy="2157594"/>
          </a:xfrm>
          <a:prstGeom prst="rect">
            <a:avLst/>
          </a:prstGeom>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70599" y="4498206"/>
            <a:ext cx="3535200" cy="2157594"/>
          </a:xfrm>
          <a:prstGeom prst="rect">
            <a:avLst/>
          </a:prstGeom>
        </p:spPr>
      </p:pic>
      <p:sp>
        <p:nvSpPr>
          <p:cNvPr id="17" name="Title 1"/>
          <p:cNvSpPr txBox="1">
            <a:spLocks/>
          </p:cNvSpPr>
          <p:nvPr/>
        </p:nvSpPr>
        <p:spPr>
          <a:xfrm>
            <a:off x="3179144" y="6280284"/>
            <a:ext cx="2438400" cy="571500"/>
          </a:xfrm>
          <a:prstGeom prst="rect">
            <a:avLst/>
          </a:prstGeom>
        </p:spPr>
        <p:style>
          <a:lnRef idx="1">
            <a:schemeClr val="accent6"/>
          </a:lnRef>
          <a:fillRef idx="3">
            <a:schemeClr val="accent6"/>
          </a:fillRef>
          <a:effectRef idx="2">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u="sng" spc="-150" dirty="0" smtClean="0">
                <a:solidFill>
                  <a:schemeClr val="accent2">
                    <a:lumMod val="75000"/>
                  </a:schemeClr>
                </a:solidFill>
              </a:rPr>
              <a:t>QMS &amp; HSE TRAINING</a:t>
            </a:r>
            <a:endParaRPr lang="en-US" sz="1800" u="sng" spc="-150" dirty="0">
              <a:solidFill>
                <a:schemeClr val="accent2">
                  <a:lumMod val="75000"/>
                </a:schemeClr>
              </a:solidFill>
            </a:endParaRPr>
          </a:p>
        </p:txBody>
      </p:sp>
    </p:spTree>
    <p:extLst>
      <p:ext uri="{BB962C8B-B14F-4D97-AF65-F5344CB8AC3E}">
        <p14:creationId xmlns:p14="http://schemas.microsoft.com/office/powerpoint/2010/main" val="3311264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743200" y="274638"/>
            <a:ext cx="5943600" cy="1143000"/>
          </a:xfrm>
        </p:spPr>
        <p:txBody>
          <a:bodyPr>
            <a:normAutofit fontScale="90000"/>
          </a:bodyPr>
          <a:lstStyle/>
          <a:p>
            <a:r>
              <a:rPr lang="en-US" sz="4000" b="1" dirty="0">
                <a:solidFill>
                  <a:schemeClr val="accent6">
                    <a:lumMod val="75000"/>
                  </a:schemeClr>
                </a:solidFill>
              </a:rPr>
              <a:t>Corporate Procedures-Quality </a:t>
            </a:r>
            <a:r>
              <a:rPr lang="en-US" sz="4000" b="1" dirty="0" smtClean="0">
                <a:solidFill>
                  <a:schemeClr val="accent6">
                    <a:lumMod val="75000"/>
                  </a:schemeClr>
                </a:solidFill>
              </a:rPr>
              <a:t>(cont..)</a:t>
            </a:r>
            <a:endParaRPr lang="en-US" dirty="0">
              <a:solidFill>
                <a:schemeClr val="accent6">
                  <a:lumMod val="75000"/>
                </a:schemeClr>
              </a:solidFill>
            </a:endParaRPr>
          </a:p>
        </p:txBody>
      </p:sp>
      <p:sp>
        <p:nvSpPr>
          <p:cNvPr id="5" name="Content Placeholder 5"/>
          <p:cNvSpPr>
            <a:spLocks noGrp="1"/>
          </p:cNvSpPr>
          <p:nvPr>
            <p:ph idx="1"/>
          </p:nvPr>
        </p:nvSpPr>
        <p:spPr>
          <a:xfrm>
            <a:off x="457200" y="2057400"/>
            <a:ext cx="8229600" cy="5029200"/>
          </a:xfrm>
        </p:spPr>
        <p:txBody>
          <a:bodyPr>
            <a:normAutofit/>
          </a:bodyPr>
          <a:lstStyle/>
          <a:p>
            <a:pPr marL="209550" lvl="0" indent="-209550" eaLnBrk="0" hangingPunct="0">
              <a:lnSpc>
                <a:spcPct val="90000"/>
              </a:lnSpc>
              <a:spcBef>
                <a:spcPct val="10000"/>
              </a:spcBef>
              <a:buClr>
                <a:srgbClr val="FF832F"/>
              </a:buClr>
              <a:buSzPct val="105000"/>
              <a:buFont typeface="Wingdings" pitchFamily="2" charset="2"/>
              <a:buChar char="§"/>
            </a:pPr>
            <a:r>
              <a:rPr lang="en-AU" sz="2200" b="1" u="sng" dirty="0" smtClean="0"/>
              <a:t>SBT-QAM-PR-008 –Monitor of Customer Satisfaction</a:t>
            </a:r>
            <a:endParaRPr lang="en-AU" sz="2200" b="1" u="sng" dirty="0"/>
          </a:p>
          <a:p>
            <a:pPr marL="0" indent="0" algn="just">
              <a:buNone/>
            </a:pPr>
            <a:r>
              <a:rPr lang="en-US" sz="2200" dirty="0"/>
              <a:t>This procedure describes the process of gathering and monitoring the Client’s perception on quality aspects to ensure </a:t>
            </a:r>
            <a:r>
              <a:rPr lang="en-US" sz="2200" dirty="0" smtClean="0"/>
              <a:t>SBT </a:t>
            </a:r>
            <a:r>
              <a:rPr lang="en-US" sz="2200" dirty="0"/>
              <a:t>deliver the project that meet Client’s expectation</a:t>
            </a:r>
            <a:r>
              <a:rPr lang="en-US" sz="2200" dirty="0" smtClean="0"/>
              <a:t>.</a:t>
            </a:r>
          </a:p>
          <a:p>
            <a:pPr marL="0" indent="0" algn="just">
              <a:buNone/>
            </a:pPr>
            <a:r>
              <a:rPr lang="en-US" sz="2200" dirty="0"/>
              <a:t>The Quality Representative is responsible to ensure the effectiveness of the process and to maintain a good working relationship with Client to ensure Client’s addressed issues are properly close out in timely manner. </a:t>
            </a:r>
            <a:endParaRPr lang="en-US" sz="2200" dirty="0" smtClean="0"/>
          </a:p>
          <a:p>
            <a:pPr marL="0" indent="0" algn="just">
              <a:buNone/>
            </a:pPr>
            <a:endParaRPr lang="en-US" sz="2200" dirty="0" smtClean="0"/>
          </a:p>
          <a:p>
            <a:pPr marL="0" indent="0" algn="just">
              <a:buNone/>
            </a:pPr>
            <a:r>
              <a:rPr lang="en-US" sz="2200" dirty="0" smtClean="0"/>
              <a:t>The Project </a:t>
            </a:r>
            <a:r>
              <a:rPr lang="en-US" sz="2200" dirty="0"/>
              <a:t>Quality Representative shall implement the Client Satisfaction Survey at 50% and 100% of project completion.</a:t>
            </a:r>
          </a:p>
          <a:p>
            <a:pPr marL="0" indent="0" algn="just">
              <a:buNone/>
            </a:pPr>
            <a:endParaRPr lang="en-US" sz="2200" dirty="0" smtClean="0"/>
          </a:p>
        </p:txBody>
      </p:sp>
      <p:pic>
        <p:nvPicPr>
          <p:cNvPr id="6"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200400" y="457200"/>
            <a:ext cx="5257800" cy="1143000"/>
          </a:xfrm>
        </p:spPr>
        <p:txBody>
          <a:bodyPr>
            <a:normAutofit fontScale="90000"/>
          </a:bodyPr>
          <a:lstStyle/>
          <a:p>
            <a:r>
              <a:rPr lang="en-US" sz="4000" b="1" dirty="0">
                <a:solidFill>
                  <a:schemeClr val="accent6">
                    <a:lumMod val="75000"/>
                  </a:schemeClr>
                </a:solidFill>
              </a:rPr>
              <a:t>Customer satisfaction survey form</a:t>
            </a:r>
          </a:p>
        </p:txBody>
      </p:sp>
      <p:pic>
        <p:nvPicPr>
          <p:cNvPr id="5" name="Picture 1" descr="C:\Users\akshay.samudre\Downloads\Strong-Built-Logo.png"/>
          <p:cNvPicPr>
            <a:picLocks noChangeAspect="1" noChangeArrowheads="1"/>
          </p:cNvPicPr>
          <p:nvPr/>
        </p:nvPicPr>
        <p:blipFill>
          <a:blip r:embed="rId3" cstate="print"/>
          <a:srcRect/>
          <a:stretch>
            <a:fillRect/>
          </a:stretch>
        </p:blipFill>
        <p:spPr bwMode="auto">
          <a:xfrm>
            <a:off x="76200" y="76200"/>
            <a:ext cx="2590800" cy="1752600"/>
          </a:xfrm>
          <a:prstGeom prst="rect">
            <a:avLst/>
          </a:prstGeom>
          <a:noFill/>
        </p:spPr>
      </p:pic>
      <p:graphicFrame>
        <p:nvGraphicFramePr>
          <p:cNvPr id="1026" name="Object 2"/>
          <p:cNvGraphicFramePr>
            <a:graphicFrameLocks noChangeAspect="1"/>
          </p:cNvGraphicFramePr>
          <p:nvPr/>
        </p:nvGraphicFramePr>
        <p:xfrm>
          <a:off x="2209800" y="1676400"/>
          <a:ext cx="4287982" cy="4876800"/>
        </p:xfrm>
        <a:graphic>
          <a:graphicData uri="http://schemas.openxmlformats.org/presentationml/2006/ole">
            <mc:AlternateContent xmlns:mc="http://schemas.openxmlformats.org/markup-compatibility/2006">
              <mc:Choice xmlns:v="urn:schemas-microsoft-com:vml" Requires="v">
                <p:oleObj spid="_x0000_s1046" name="Acrobat Document" r:id="rId4" imgW="5668166" imgH="8019048" progId="AcroExch.Document.11">
                  <p:embed/>
                </p:oleObj>
              </mc:Choice>
              <mc:Fallback>
                <p:oleObj name="Acrobat Document" r:id="rId4" imgW="5668166" imgH="8019048" progId="AcroExch.Document.11">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1676400"/>
                        <a:ext cx="4287982"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3276600" y="457200"/>
            <a:ext cx="5410200" cy="1143000"/>
          </a:xfrm>
        </p:spPr>
        <p:txBody>
          <a:bodyPr>
            <a:normAutofit fontScale="90000"/>
          </a:bodyPr>
          <a:lstStyle/>
          <a:p>
            <a:r>
              <a:rPr lang="en-US" sz="4000" b="1" dirty="0">
                <a:solidFill>
                  <a:schemeClr val="accent6">
                    <a:lumMod val="75000"/>
                  </a:schemeClr>
                </a:solidFill>
              </a:rPr>
              <a:t>Corporate Procedures-Quality </a:t>
            </a:r>
            <a:r>
              <a:rPr lang="en-US" sz="4000" b="1" dirty="0" smtClean="0">
                <a:solidFill>
                  <a:schemeClr val="accent6">
                    <a:lumMod val="75000"/>
                  </a:schemeClr>
                </a:solidFill>
              </a:rPr>
              <a:t>(cont..)</a:t>
            </a:r>
            <a:endParaRPr lang="en-US" dirty="0">
              <a:solidFill>
                <a:schemeClr val="accent6">
                  <a:lumMod val="75000"/>
                </a:schemeClr>
              </a:solidFill>
            </a:endParaRPr>
          </a:p>
        </p:txBody>
      </p:sp>
      <p:sp>
        <p:nvSpPr>
          <p:cNvPr id="6" name="Content Placeholder 5"/>
          <p:cNvSpPr>
            <a:spLocks noGrp="1"/>
          </p:cNvSpPr>
          <p:nvPr>
            <p:ph idx="1"/>
          </p:nvPr>
        </p:nvSpPr>
        <p:spPr>
          <a:xfrm>
            <a:off x="457200" y="1981200"/>
            <a:ext cx="8229600" cy="5029200"/>
          </a:xfrm>
        </p:spPr>
        <p:txBody>
          <a:bodyPr/>
          <a:lstStyle/>
          <a:p>
            <a:pPr marL="209550" lvl="0" indent="-209550" eaLnBrk="0" hangingPunct="0">
              <a:lnSpc>
                <a:spcPct val="90000"/>
              </a:lnSpc>
              <a:spcBef>
                <a:spcPct val="10000"/>
              </a:spcBef>
              <a:buClr>
                <a:srgbClr val="FF832F"/>
              </a:buClr>
              <a:buSzPct val="105000"/>
              <a:buFont typeface="Wingdings" pitchFamily="2" charset="2"/>
              <a:buChar char="§"/>
            </a:pPr>
            <a:r>
              <a:rPr lang="en-AU" b="1" u="sng" dirty="0" smtClean="0"/>
              <a:t>SBT-QAM-PR-009 –Quality Awards</a:t>
            </a:r>
          </a:p>
          <a:p>
            <a:pPr marL="209550" lvl="0" indent="-209550" eaLnBrk="0" hangingPunct="0">
              <a:lnSpc>
                <a:spcPct val="90000"/>
              </a:lnSpc>
              <a:spcBef>
                <a:spcPct val="10000"/>
              </a:spcBef>
              <a:buClr>
                <a:srgbClr val="FF832F"/>
              </a:buClr>
              <a:buSzPct val="105000"/>
              <a:buFont typeface="Wingdings" pitchFamily="2" charset="2"/>
              <a:buChar char="§"/>
            </a:pPr>
            <a:endParaRPr lang="en-AU" sz="2400" b="1" u="sng" dirty="0"/>
          </a:p>
          <a:p>
            <a:pPr marL="0" lvl="0" indent="0" algn="just" eaLnBrk="0" hangingPunct="0">
              <a:lnSpc>
                <a:spcPct val="90000"/>
              </a:lnSpc>
              <a:spcBef>
                <a:spcPct val="10000"/>
              </a:spcBef>
              <a:buClr>
                <a:srgbClr val="FF832F"/>
              </a:buClr>
              <a:buSzPct val="105000"/>
              <a:buNone/>
            </a:pPr>
            <a:r>
              <a:rPr lang="en-US" sz="2400" dirty="0"/>
              <a:t>This procedure sets out the Quality Award Processes to be adopted at </a:t>
            </a:r>
            <a:r>
              <a:rPr lang="en-US" sz="2400" dirty="0" smtClean="0"/>
              <a:t>SBT. </a:t>
            </a:r>
            <a:r>
              <a:rPr lang="en-US" sz="2400" dirty="0"/>
              <a:t>This procedure explains about the criterions, categories of awards, selection methodology and frequency for such awards</a:t>
            </a:r>
            <a:r>
              <a:rPr lang="en-US" sz="2400" dirty="0" smtClean="0"/>
              <a:t>.</a:t>
            </a:r>
          </a:p>
          <a:p>
            <a:pPr marL="0" lvl="0" indent="0" algn="just" eaLnBrk="0" hangingPunct="0">
              <a:lnSpc>
                <a:spcPct val="90000"/>
              </a:lnSpc>
              <a:spcBef>
                <a:spcPct val="10000"/>
              </a:spcBef>
              <a:buClr>
                <a:srgbClr val="FF832F"/>
              </a:buClr>
              <a:buSzPct val="105000"/>
              <a:buNone/>
            </a:pPr>
            <a:endParaRPr lang="en-US" sz="2400" dirty="0" smtClean="0"/>
          </a:p>
          <a:p>
            <a:pPr marL="0" lvl="0" indent="0" algn="just" eaLnBrk="0" hangingPunct="0">
              <a:lnSpc>
                <a:spcPct val="90000"/>
              </a:lnSpc>
              <a:spcBef>
                <a:spcPct val="10000"/>
              </a:spcBef>
              <a:buClr>
                <a:srgbClr val="FF832F"/>
              </a:buClr>
              <a:buSzPct val="105000"/>
              <a:buNone/>
            </a:pPr>
            <a:r>
              <a:rPr lang="en-US" sz="2400" dirty="0" smtClean="0"/>
              <a:t>The </a:t>
            </a:r>
            <a:r>
              <a:rPr lang="en-US" sz="2400" dirty="0"/>
              <a:t>Quality Awards </a:t>
            </a:r>
            <a:r>
              <a:rPr lang="en-US" sz="2400" dirty="0" smtClean="0"/>
              <a:t>Programmed </a:t>
            </a:r>
            <a:r>
              <a:rPr lang="en-US" sz="2400" dirty="0"/>
              <a:t>is designed to recognize and reward the individuals/ project teams who have excelled in their performance in regards of quality aspect. The rewarded individuals/ projects are set as the role models to cultivate the quality culture within the organization..</a:t>
            </a:r>
          </a:p>
          <a:p>
            <a:pPr marL="0" indent="0" algn="just">
              <a:buNone/>
            </a:pPr>
            <a:endParaRPr lang="en-US" sz="20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3276600" y="457200"/>
            <a:ext cx="5410200" cy="1143000"/>
          </a:xfrm>
        </p:spPr>
        <p:txBody>
          <a:bodyPr>
            <a:normAutofit/>
          </a:bodyPr>
          <a:lstStyle/>
          <a:p>
            <a:r>
              <a:rPr lang="en-US" sz="4000" b="1" dirty="0" smtClean="0">
                <a:solidFill>
                  <a:schemeClr val="accent6">
                    <a:lumMod val="75000"/>
                  </a:schemeClr>
                </a:solidFill>
              </a:rPr>
              <a:t>Quality Award</a:t>
            </a:r>
            <a:endParaRPr lang="en-US" dirty="0">
              <a:solidFill>
                <a:schemeClr val="accent6">
                  <a:lumMod val="75000"/>
                </a:schemeClr>
              </a:solidFill>
            </a:endParaRPr>
          </a:p>
        </p:txBody>
      </p:sp>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00" y="1905000"/>
            <a:ext cx="384000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70600" y="1905000"/>
            <a:ext cx="384000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600" y="4317000"/>
            <a:ext cx="384000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16200" y="4317000"/>
            <a:ext cx="379440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p:cNvSpPr txBox="1">
            <a:spLocks/>
          </p:cNvSpPr>
          <p:nvPr/>
        </p:nvSpPr>
        <p:spPr>
          <a:xfrm>
            <a:off x="3581400" y="6210300"/>
            <a:ext cx="2133600" cy="571500"/>
          </a:xfrm>
          <a:prstGeom prst="rect">
            <a:avLst/>
          </a:prstGeom>
        </p:spPr>
        <p:style>
          <a:lnRef idx="1">
            <a:schemeClr val="accent6"/>
          </a:lnRef>
          <a:fillRef idx="3">
            <a:schemeClr val="accent6"/>
          </a:fillRef>
          <a:effectRef idx="2">
            <a:schemeClr val="accent6"/>
          </a:effectRef>
          <a:fontRef idx="minor">
            <a:schemeClr val="lt1"/>
          </a:fontRef>
        </p:style>
        <p:txBody>
          <a:bodyPr vert="horz" lIns="91440" tIns="45720" rIns="91440" bIns="45720" rtlCol="0" anchor="ctr">
            <a:normAutofit fontScale="6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dirty="0" smtClean="0">
                <a:solidFill>
                  <a:schemeClr val="accent2">
                    <a:lumMod val="75000"/>
                  </a:schemeClr>
                </a:solidFill>
              </a:rPr>
              <a:t>Quality Award Distribution At Mahindra Project</a:t>
            </a:r>
            <a:endParaRPr lang="en-US" sz="2000" dirty="0">
              <a:solidFill>
                <a:schemeClr val="accent2">
                  <a:lumMod val="75000"/>
                </a:schemeClr>
              </a:solidFill>
            </a:endParaRPr>
          </a:p>
        </p:txBody>
      </p:sp>
    </p:spTree>
    <p:extLst>
      <p:ext uri="{BB962C8B-B14F-4D97-AF65-F5344CB8AC3E}">
        <p14:creationId xmlns:p14="http://schemas.microsoft.com/office/powerpoint/2010/main" val="297517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2895600" y="457200"/>
            <a:ext cx="5791200" cy="838200"/>
          </a:xfrm>
        </p:spPr>
        <p:txBody>
          <a:bodyPr>
            <a:noAutofit/>
          </a:bodyPr>
          <a:lstStyle/>
          <a:p>
            <a:r>
              <a:rPr lang="en-US" sz="3600" b="1" dirty="0">
                <a:solidFill>
                  <a:schemeClr val="accent6">
                    <a:lumMod val="75000"/>
                  </a:schemeClr>
                </a:solidFill>
                <a:latin typeface="+mn-lt"/>
                <a:cs typeface="Arial" pitchFamily="34" charset="0"/>
              </a:rPr>
              <a:t>Quality System Documents</a:t>
            </a:r>
            <a:endParaRPr lang="en-GB" sz="3600" b="1" dirty="0">
              <a:solidFill>
                <a:schemeClr val="accent6">
                  <a:lumMod val="75000"/>
                </a:schemeClr>
              </a:solidFill>
              <a:latin typeface="+mn-lt"/>
              <a:cs typeface="Arial" pitchFamily="34" charset="0"/>
            </a:endParaRPr>
          </a:p>
        </p:txBody>
      </p:sp>
      <p:sp>
        <p:nvSpPr>
          <p:cNvPr id="6" name="Rectangle 5"/>
          <p:cNvSpPr>
            <a:spLocks noChangeArrowheads="1"/>
          </p:cNvSpPr>
          <p:nvPr/>
        </p:nvSpPr>
        <p:spPr bwMode="auto">
          <a:xfrm>
            <a:off x="1470025" y="2136775"/>
            <a:ext cx="5616575" cy="39592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09550" indent="-209550" eaLnBrk="0" hangingPunct="0">
              <a:lnSpc>
                <a:spcPct val="90000"/>
              </a:lnSpc>
              <a:spcBef>
                <a:spcPct val="10000"/>
              </a:spcBef>
              <a:buClr>
                <a:srgbClr val="FF832F"/>
              </a:buClr>
              <a:buSzPct val="105000"/>
              <a:buFont typeface="Wingdings" pitchFamily="2" charset="2"/>
              <a:buChar char="§"/>
            </a:pPr>
            <a:r>
              <a:rPr lang="en-AU" sz="2200" dirty="0"/>
              <a:t>Plans</a:t>
            </a:r>
          </a:p>
          <a:p>
            <a:pPr marL="209550" indent="-209550" eaLnBrk="0" hangingPunct="0">
              <a:lnSpc>
                <a:spcPct val="90000"/>
              </a:lnSpc>
              <a:spcBef>
                <a:spcPct val="10000"/>
              </a:spcBef>
              <a:buClr>
                <a:srgbClr val="FF832F"/>
              </a:buClr>
              <a:buSzPct val="105000"/>
              <a:buFont typeface="Wingdings" pitchFamily="2" charset="2"/>
              <a:buChar char="§"/>
            </a:pPr>
            <a:endParaRPr lang="en-AU" sz="2200" dirty="0"/>
          </a:p>
          <a:p>
            <a:pPr marL="209550" indent="-209550" eaLnBrk="0" hangingPunct="0">
              <a:lnSpc>
                <a:spcPct val="90000"/>
              </a:lnSpc>
              <a:spcBef>
                <a:spcPct val="10000"/>
              </a:spcBef>
              <a:buClr>
                <a:srgbClr val="FF832F"/>
              </a:buClr>
              <a:buSzPct val="105000"/>
              <a:buFont typeface="Wingdings" pitchFamily="2" charset="2"/>
              <a:buChar char="§"/>
            </a:pPr>
            <a:r>
              <a:rPr lang="en-AU" sz="2200" dirty="0"/>
              <a:t>Procedures</a:t>
            </a:r>
          </a:p>
          <a:p>
            <a:pPr marL="209550" indent="-209550" eaLnBrk="0" hangingPunct="0">
              <a:lnSpc>
                <a:spcPct val="90000"/>
              </a:lnSpc>
              <a:spcBef>
                <a:spcPct val="10000"/>
              </a:spcBef>
              <a:buClr>
                <a:srgbClr val="FF832F"/>
              </a:buClr>
              <a:buSzPct val="105000"/>
              <a:buFont typeface="Wingdings" pitchFamily="2" charset="2"/>
              <a:buChar char="§"/>
            </a:pPr>
            <a:endParaRPr lang="en-AU" sz="2200" dirty="0"/>
          </a:p>
          <a:p>
            <a:pPr marL="209550" indent="-209550" eaLnBrk="0" hangingPunct="0">
              <a:lnSpc>
                <a:spcPct val="90000"/>
              </a:lnSpc>
              <a:spcBef>
                <a:spcPct val="10000"/>
              </a:spcBef>
              <a:buClr>
                <a:srgbClr val="FF832F"/>
              </a:buClr>
              <a:buSzPct val="105000"/>
              <a:buFont typeface="Wingdings" pitchFamily="2" charset="2"/>
              <a:buChar char="§"/>
            </a:pPr>
            <a:r>
              <a:rPr lang="en-AU" sz="2200" dirty="0" smtClean="0"/>
              <a:t>Construction </a:t>
            </a:r>
            <a:r>
              <a:rPr lang="en-AU" sz="2200" dirty="0"/>
              <a:t>Method Statements</a:t>
            </a:r>
          </a:p>
          <a:p>
            <a:pPr marL="209550" indent="-209550" eaLnBrk="0" hangingPunct="0">
              <a:lnSpc>
                <a:spcPct val="90000"/>
              </a:lnSpc>
              <a:spcBef>
                <a:spcPct val="10000"/>
              </a:spcBef>
              <a:buClr>
                <a:srgbClr val="FF832F"/>
              </a:buClr>
              <a:buSzPct val="105000"/>
              <a:buFont typeface="Wingdings" pitchFamily="2" charset="2"/>
              <a:buChar char="§"/>
            </a:pPr>
            <a:endParaRPr lang="en-AU" sz="2200" dirty="0"/>
          </a:p>
          <a:p>
            <a:pPr marL="209550" indent="-209550" eaLnBrk="0" hangingPunct="0">
              <a:lnSpc>
                <a:spcPct val="90000"/>
              </a:lnSpc>
              <a:spcBef>
                <a:spcPct val="10000"/>
              </a:spcBef>
              <a:buClr>
                <a:srgbClr val="FF832F"/>
              </a:buClr>
              <a:buSzPct val="105000"/>
              <a:buFont typeface="Wingdings" pitchFamily="2" charset="2"/>
              <a:buChar char="§"/>
            </a:pPr>
            <a:r>
              <a:rPr lang="en-AU" sz="2200" dirty="0"/>
              <a:t>Standard Operating Procedures</a:t>
            </a:r>
          </a:p>
          <a:p>
            <a:pPr marL="209550" indent="-209550" eaLnBrk="0" hangingPunct="0">
              <a:lnSpc>
                <a:spcPct val="90000"/>
              </a:lnSpc>
              <a:spcBef>
                <a:spcPct val="10000"/>
              </a:spcBef>
              <a:buClr>
                <a:srgbClr val="FF832F"/>
              </a:buClr>
              <a:buSzPct val="105000"/>
              <a:buFont typeface="Wingdings" pitchFamily="2" charset="2"/>
              <a:buChar char="§"/>
            </a:pPr>
            <a:endParaRPr lang="en-AU" sz="2200" dirty="0"/>
          </a:p>
          <a:p>
            <a:pPr marL="209550" indent="-209550" eaLnBrk="0" hangingPunct="0">
              <a:lnSpc>
                <a:spcPct val="90000"/>
              </a:lnSpc>
              <a:spcBef>
                <a:spcPct val="10000"/>
              </a:spcBef>
              <a:buClr>
                <a:srgbClr val="FF832F"/>
              </a:buClr>
              <a:buSzPct val="105000"/>
              <a:buFont typeface="Wingdings" pitchFamily="2" charset="2"/>
              <a:buChar char="§"/>
            </a:pPr>
            <a:r>
              <a:rPr lang="en-AU" sz="2200" dirty="0"/>
              <a:t>Inspection &amp; Test Plans (ITP)</a:t>
            </a:r>
          </a:p>
          <a:p>
            <a:pPr marL="209550" indent="-209550" eaLnBrk="0" hangingPunct="0">
              <a:lnSpc>
                <a:spcPct val="90000"/>
              </a:lnSpc>
              <a:spcBef>
                <a:spcPct val="10000"/>
              </a:spcBef>
              <a:buClr>
                <a:srgbClr val="FF832F"/>
              </a:buClr>
              <a:buSzPct val="105000"/>
              <a:buFont typeface="Wingdings" pitchFamily="2" charset="2"/>
              <a:buChar char="§"/>
            </a:pPr>
            <a:endParaRPr lang="en-AU" sz="2200" dirty="0"/>
          </a:p>
          <a:p>
            <a:pPr marL="209550" indent="-209550" eaLnBrk="0" hangingPunct="0">
              <a:lnSpc>
                <a:spcPct val="90000"/>
              </a:lnSpc>
              <a:spcBef>
                <a:spcPct val="10000"/>
              </a:spcBef>
              <a:buClr>
                <a:srgbClr val="FF832F"/>
              </a:buClr>
              <a:buSzPct val="105000"/>
              <a:buFont typeface="Wingdings" pitchFamily="2" charset="2"/>
              <a:buChar char="§"/>
            </a:pPr>
            <a:r>
              <a:rPr lang="en-AU" sz="2200" dirty="0"/>
              <a:t>Records (Checklists, As </a:t>
            </a:r>
            <a:r>
              <a:rPr lang="en-AU" sz="2200" dirty="0" err="1"/>
              <a:t>Builts</a:t>
            </a:r>
            <a:r>
              <a:rPr lang="en-AU" sz="2200" dirty="0"/>
              <a:t>, Test Reports)</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1066800" y="579438"/>
            <a:ext cx="8229600" cy="792162"/>
          </a:xfrm>
        </p:spPr>
        <p:txBody>
          <a:bodyPr>
            <a:noAutofit/>
          </a:bodyPr>
          <a:lstStyle/>
          <a:p>
            <a:r>
              <a:rPr lang="en-US" sz="3600" b="1" dirty="0">
                <a:solidFill>
                  <a:schemeClr val="accent6">
                    <a:lumMod val="75000"/>
                  </a:schemeClr>
                </a:solidFill>
                <a:latin typeface="+mn-lt"/>
                <a:cs typeface="Arial" pitchFamily="34" charset="0"/>
              </a:rPr>
              <a:t>Quality Initiatives</a:t>
            </a:r>
            <a:endParaRPr lang="en-GB" sz="3600" b="1" dirty="0">
              <a:solidFill>
                <a:schemeClr val="accent6">
                  <a:lumMod val="75000"/>
                </a:schemeClr>
              </a:solidFill>
              <a:latin typeface="+mn-lt"/>
              <a:cs typeface="Arial" pitchFamily="34" charset="0"/>
            </a:endParaRPr>
          </a:p>
        </p:txBody>
      </p:sp>
      <p:sp>
        <p:nvSpPr>
          <p:cNvPr id="6" name="Rectangle 5"/>
          <p:cNvSpPr>
            <a:spLocks noChangeArrowheads="1"/>
          </p:cNvSpPr>
          <p:nvPr/>
        </p:nvSpPr>
        <p:spPr bwMode="auto">
          <a:xfrm>
            <a:off x="1512888" y="1954212"/>
            <a:ext cx="5802312" cy="36845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09550" lvl="1" indent="-209550" algn="just" eaLnBrk="0" hangingPunct="0">
              <a:lnSpc>
                <a:spcPct val="200000"/>
              </a:lnSpc>
              <a:spcBef>
                <a:spcPct val="10000"/>
              </a:spcBef>
              <a:buClr>
                <a:srgbClr val="FF832F"/>
              </a:buClr>
              <a:buSzPct val="105000"/>
              <a:buFont typeface="Wingdings" pitchFamily="2" charset="2"/>
              <a:buChar char="§"/>
            </a:pPr>
            <a:r>
              <a:rPr lang="en-GB" sz="2800" dirty="0" smtClean="0"/>
              <a:t>Quality Walks</a:t>
            </a:r>
          </a:p>
          <a:p>
            <a:pPr marL="209550" lvl="1" indent="-209550" algn="just" eaLnBrk="0" hangingPunct="0">
              <a:lnSpc>
                <a:spcPct val="200000"/>
              </a:lnSpc>
              <a:spcBef>
                <a:spcPct val="10000"/>
              </a:spcBef>
              <a:buClr>
                <a:srgbClr val="FF832F"/>
              </a:buClr>
              <a:buSzPct val="105000"/>
              <a:buFont typeface="Wingdings" pitchFamily="2" charset="2"/>
              <a:buChar char="§"/>
            </a:pPr>
            <a:r>
              <a:rPr lang="en-GB" sz="2800" dirty="0" smtClean="0"/>
              <a:t>Quality Walk Closeout Report</a:t>
            </a:r>
          </a:p>
          <a:p>
            <a:pPr marL="209550" lvl="1" indent="-209550" algn="just" eaLnBrk="0" hangingPunct="0">
              <a:lnSpc>
                <a:spcPct val="200000"/>
              </a:lnSpc>
              <a:spcBef>
                <a:spcPct val="10000"/>
              </a:spcBef>
              <a:buClr>
                <a:srgbClr val="FF832F"/>
              </a:buClr>
              <a:buSzPct val="105000"/>
              <a:buFont typeface="Wingdings" pitchFamily="2" charset="2"/>
              <a:buChar char="§"/>
            </a:pPr>
            <a:r>
              <a:rPr lang="en-GB" sz="2800" dirty="0" smtClean="0"/>
              <a:t>Quality Pocket Card</a:t>
            </a:r>
          </a:p>
          <a:p>
            <a:pPr marL="209550" lvl="1" indent="-209550" algn="just" eaLnBrk="0" hangingPunct="0">
              <a:lnSpc>
                <a:spcPct val="200000"/>
              </a:lnSpc>
              <a:spcBef>
                <a:spcPct val="10000"/>
              </a:spcBef>
              <a:buClr>
                <a:srgbClr val="FF832F"/>
              </a:buClr>
              <a:buSzPct val="105000"/>
              <a:buFont typeface="Wingdings" pitchFamily="2" charset="2"/>
              <a:buChar char="§"/>
            </a:pPr>
            <a:r>
              <a:rPr lang="en-GB" sz="2800" dirty="0" smtClean="0"/>
              <a:t>Idiot Guide for Quality</a:t>
            </a:r>
          </a:p>
          <a:p>
            <a:pPr marL="209550" lvl="1" indent="-209550" algn="just" eaLnBrk="0" hangingPunct="0">
              <a:lnSpc>
                <a:spcPct val="200000"/>
              </a:lnSpc>
              <a:spcBef>
                <a:spcPct val="10000"/>
              </a:spcBef>
              <a:buClr>
                <a:srgbClr val="FF832F"/>
              </a:buClr>
              <a:buSzPct val="105000"/>
              <a:buFont typeface="Wingdings" pitchFamily="2" charset="2"/>
              <a:buChar char="§"/>
            </a:pPr>
            <a:r>
              <a:rPr lang="en-GB" sz="2800" dirty="0" smtClean="0"/>
              <a:t>Quality Control Training</a:t>
            </a:r>
            <a:endParaRPr lang="en-GB" sz="2800" dirty="0"/>
          </a:p>
          <a:p>
            <a:pPr marL="0" lvl="1" algn="just" eaLnBrk="0" hangingPunct="0">
              <a:lnSpc>
                <a:spcPct val="90000"/>
              </a:lnSpc>
              <a:spcBef>
                <a:spcPct val="10000"/>
              </a:spcBef>
              <a:buClr>
                <a:srgbClr val="FF832F"/>
              </a:buClr>
              <a:buSzPct val="105000"/>
            </a:pPr>
            <a:endParaRPr lang="en-GB" sz="2800" dirty="0"/>
          </a:p>
          <a:p>
            <a:pPr marL="209550" indent="-209550" eaLnBrk="0" hangingPunct="0">
              <a:lnSpc>
                <a:spcPct val="90000"/>
              </a:lnSpc>
              <a:spcBef>
                <a:spcPct val="10000"/>
              </a:spcBef>
              <a:buClr>
                <a:srgbClr val="FF832F"/>
              </a:buClr>
              <a:buSzPct val="105000"/>
              <a:buFont typeface="Wingdings" pitchFamily="2" charset="2"/>
              <a:buNone/>
            </a:pP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1219200" y="381000"/>
            <a:ext cx="8229600" cy="1143000"/>
          </a:xfrm>
        </p:spPr>
        <p:txBody>
          <a:bodyPr>
            <a:noAutofit/>
          </a:bodyPr>
          <a:lstStyle/>
          <a:p>
            <a:r>
              <a:rPr lang="en-US" sz="3600" b="1" dirty="0">
                <a:solidFill>
                  <a:schemeClr val="accent6">
                    <a:lumMod val="75000"/>
                  </a:schemeClr>
                </a:solidFill>
                <a:latin typeface="+mn-lt"/>
                <a:cs typeface="Arial" pitchFamily="34" charset="0"/>
              </a:rPr>
              <a:t>Quality Initiatives</a:t>
            </a:r>
            <a:endParaRPr lang="en-GB" sz="3600" b="1" dirty="0">
              <a:solidFill>
                <a:schemeClr val="accent6">
                  <a:lumMod val="75000"/>
                </a:schemeClr>
              </a:solidFill>
              <a:latin typeface="+mn-lt"/>
              <a:cs typeface="Arial" pitchFamily="34" charset="0"/>
            </a:endParaRPr>
          </a:p>
        </p:txBody>
      </p:sp>
      <p:sp>
        <p:nvSpPr>
          <p:cNvPr id="6" name="Rectangle 5"/>
          <p:cNvSpPr>
            <a:spLocks noChangeArrowheads="1"/>
          </p:cNvSpPr>
          <p:nvPr/>
        </p:nvSpPr>
        <p:spPr bwMode="auto">
          <a:xfrm>
            <a:off x="446088" y="1878012"/>
            <a:ext cx="8229600" cy="45989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lvl="1" algn="ctr" eaLnBrk="0" hangingPunct="0">
              <a:lnSpc>
                <a:spcPct val="90000"/>
              </a:lnSpc>
              <a:spcBef>
                <a:spcPct val="10000"/>
              </a:spcBef>
              <a:buClr>
                <a:srgbClr val="FF832F"/>
              </a:buClr>
              <a:buSzPct val="105000"/>
            </a:pPr>
            <a:r>
              <a:rPr lang="en-GB" sz="2800" b="1" u="sng" dirty="0" smtClean="0"/>
              <a:t>Quality </a:t>
            </a:r>
            <a:r>
              <a:rPr lang="en-GB" sz="2800" b="1" u="sng" dirty="0"/>
              <a:t>Walks </a:t>
            </a:r>
            <a:endParaRPr lang="en-GB" sz="2800" b="1" u="sng" dirty="0" smtClean="0"/>
          </a:p>
          <a:p>
            <a:pPr marL="0" lvl="1" algn="just" eaLnBrk="0" hangingPunct="0">
              <a:lnSpc>
                <a:spcPct val="90000"/>
              </a:lnSpc>
              <a:spcBef>
                <a:spcPct val="10000"/>
              </a:spcBef>
              <a:buClr>
                <a:srgbClr val="FF832F"/>
              </a:buClr>
              <a:buSzPct val="105000"/>
            </a:pPr>
            <a:endParaRPr lang="en-GB" sz="2800" dirty="0"/>
          </a:p>
          <a:p>
            <a:pPr marL="0" lvl="1" algn="just" eaLnBrk="0" hangingPunct="0">
              <a:lnSpc>
                <a:spcPct val="90000"/>
              </a:lnSpc>
              <a:spcBef>
                <a:spcPct val="10000"/>
              </a:spcBef>
              <a:buClr>
                <a:srgbClr val="FF832F"/>
              </a:buClr>
              <a:buSzPct val="105000"/>
            </a:pPr>
            <a:r>
              <a:rPr lang="en-GB" sz="2800" dirty="0" smtClean="0"/>
              <a:t>The </a:t>
            </a:r>
            <a:r>
              <a:rPr lang="en-GB" sz="2800" dirty="0"/>
              <a:t>Project Quality Manager shall decide the frequency of “Quality Walks”. He shall notify the concerned person (supervisor, project engineer, quality engineer, project manager, sub-contractor’s engineer, client’s representative, if any) one week prior to such walks. </a:t>
            </a:r>
            <a:endParaRPr lang="en-GB" sz="2800" dirty="0" smtClean="0"/>
          </a:p>
          <a:p>
            <a:pPr marL="0" lvl="1" algn="just" eaLnBrk="0" hangingPunct="0">
              <a:lnSpc>
                <a:spcPct val="90000"/>
              </a:lnSpc>
              <a:spcBef>
                <a:spcPct val="10000"/>
              </a:spcBef>
              <a:buClr>
                <a:srgbClr val="FF832F"/>
              </a:buClr>
              <a:buSzPct val="105000"/>
            </a:pPr>
            <a:endParaRPr lang="en-GB" sz="2800" dirty="0"/>
          </a:p>
          <a:p>
            <a:pPr marL="0" lvl="1" algn="just" eaLnBrk="0" hangingPunct="0">
              <a:lnSpc>
                <a:spcPct val="90000"/>
              </a:lnSpc>
              <a:spcBef>
                <a:spcPct val="10000"/>
              </a:spcBef>
              <a:buClr>
                <a:srgbClr val="FF832F"/>
              </a:buClr>
              <a:buSzPct val="105000"/>
            </a:pPr>
            <a:r>
              <a:rPr lang="en-GB" sz="2800" dirty="0" smtClean="0"/>
              <a:t>The </a:t>
            </a:r>
            <a:r>
              <a:rPr lang="en-GB" sz="2800" dirty="0"/>
              <a:t>non conformities which are already raised in the form of Non-Conformance Report shall not be raised in such </a:t>
            </a:r>
            <a:r>
              <a:rPr lang="en-GB" sz="2800" dirty="0" smtClean="0"/>
              <a:t>walks.</a:t>
            </a:r>
            <a:endParaRPr lang="en-AU" sz="2400" dirty="0"/>
          </a:p>
          <a:p>
            <a:pPr marL="209550" indent="-209550" eaLnBrk="0" hangingPunct="0">
              <a:lnSpc>
                <a:spcPct val="90000"/>
              </a:lnSpc>
              <a:spcBef>
                <a:spcPct val="10000"/>
              </a:spcBef>
              <a:buClr>
                <a:srgbClr val="FF832F"/>
              </a:buClr>
              <a:buSzPct val="105000"/>
              <a:buFont typeface="Wingdings" pitchFamily="2" charset="2"/>
              <a:buNone/>
            </a:pP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3" cstate="print"/>
          <a:srcRect/>
          <a:stretch>
            <a:fillRect/>
          </a:stretch>
        </p:blipFill>
        <p:spPr bwMode="auto">
          <a:xfrm>
            <a:off x="76200" y="76200"/>
            <a:ext cx="2590800" cy="1752600"/>
          </a:xfrm>
          <a:prstGeom prst="rect">
            <a:avLst/>
          </a:prstGeom>
          <a:noFill/>
        </p:spPr>
      </p:pic>
      <p:sp>
        <p:nvSpPr>
          <p:cNvPr id="6" name="Title 1"/>
          <p:cNvSpPr>
            <a:spLocks noGrp="1"/>
          </p:cNvSpPr>
          <p:nvPr>
            <p:ph type="title"/>
          </p:nvPr>
        </p:nvSpPr>
        <p:spPr>
          <a:xfrm>
            <a:off x="1066800" y="381000"/>
            <a:ext cx="8229600" cy="1143000"/>
          </a:xfrm>
        </p:spPr>
        <p:txBody>
          <a:bodyPr>
            <a:noAutofit/>
          </a:bodyPr>
          <a:lstStyle/>
          <a:p>
            <a:r>
              <a:rPr lang="en-US" sz="4000" b="1" dirty="0">
                <a:solidFill>
                  <a:schemeClr val="accent6">
                    <a:lumMod val="75000"/>
                  </a:schemeClr>
                </a:solidFill>
                <a:latin typeface="+mn-lt"/>
                <a:cs typeface="Arial" pitchFamily="34" charset="0"/>
              </a:rPr>
              <a:t>Quality </a:t>
            </a:r>
            <a:r>
              <a:rPr lang="en-US" sz="4000" b="1" dirty="0" smtClean="0">
                <a:solidFill>
                  <a:schemeClr val="accent6">
                    <a:lumMod val="75000"/>
                  </a:schemeClr>
                </a:solidFill>
                <a:latin typeface="+mn-lt"/>
                <a:cs typeface="Arial" pitchFamily="34" charset="0"/>
              </a:rPr>
              <a:t>Walk Report</a:t>
            </a:r>
            <a:endParaRPr lang="en-US" sz="4000" b="1" dirty="0">
              <a:solidFill>
                <a:schemeClr val="accent6">
                  <a:lumMod val="75000"/>
                </a:schemeClr>
              </a:solidFill>
              <a:latin typeface="+mn-lt"/>
              <a:cs typeface="Arial" pitchFamily="34"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3108755105"/>
              </p:ext>
            </p:extLst>
          </p:nvPr>
        </p:nvGraphicFramePr>
        <p:xfrm>
          <a:off x="762001" y="1727200"/>
          <a:ext cx="7620000" cy="5130800"/>
        </p:xfrm>
        <a:graphic>
          <a:graphicData uri="http://schemas.openxmlformats.org/presentationml/2006/ole">
            <mc:AlternateContent xmlns:mc="http://schemas.openxmlformats.org/markup-compatibility/2006">
              <mc:Choice xmlns:v="urn:schemas-microsoft-com:vml" Requires="v">
                <p:oleObj spid="_x0000_s3082" name="Document" r:id="rId4" imgW="6445006" imgH="8302908" progId="Word.Document.12">
                  <p:embed/>
                </p:oleObj>
              </mc:Choice>
              <mc:Fallback>
                <p:oleObj name="Document" r:id="rId4" imgW="6445006" imgH="8302908" progId="Word.Document.12">
                  <p:embed/>
                  <p:pic>
                    <p:nvPicPr>
                      <p:cNvPr id="0" name=""/>
                      <p:cNvPicPr/>
                      <p:nvPr/>
                    </p:nvPicPr>
                    <p:blipFill>
                      <a:blip r:embed="rId5"/>
                      <a:stretch>
                        <a:fillRect/>
                      </a:stretch>
                    </p:blipFill>
                    <p:spPr>
                      <a:xfrm>
                        <a:off x="762001" y="1727200"/>
                        <a:ext cx="7620000" cy="5130800"/>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3" cstate="print"/>
          <a:srcRect/>
          <a:stretch>
            <a:fillRect/>
          </a:stretch>
        </p:blipFill>
        <p:spPr bwMode="auto">
          <a:xfrm>
            <a:off x="266700" y="304800"/>
            <a:ext cx="2476500" cy="1675279"/>
          </a:xfrm>
          <a:prstGeom prst="rect">
            <a:avLst/>
          </a:prstGeom>
          <a:noFill/>
        </p:spPr>
      </p:pic>
      <p:sp>
        <p:nvSpPr>
          <p:cNvPr id="6" name="Title 1"/>
          <p:cNvSpPr>
            <a:spLocks noGrp="1"/>
          </p:cNvSpPr>
          <p:nvPr>
            <p:ph type="title"/>
          </p:nvPr>
        </p:nvSpPr>
        <p:spPr>
          <a:xfrm>
            <a:off x="2743200" y="381000"/>
            <a:ext cx="6553200" cy="1143000"/>
          </a:xfrm>
        </p:spPr>
        <p:txBody>
          <a:bodyPr>
            <a:noAutofit/>
          </a:bodyPr>
          <a:lstStyle/>
          <a:p>
            <a:r>
              <a:rPr lang="en-US" sz="3600" b="1" dirty="0" smtClean="0">
                <a:solidFill>
                  <a:schemeClr val="accent6">
                    <a:lumMod val="75000"/>
                  </a:schemeClr>
                </a:solidFill>
                <a:latin typeface="+mn-lt"/>
                <a:cs typeface="Arial" pitchFamily="34" charset="0"/>
              </a:rPr>
              <a:t>Quality Walk Closeout Report</a:t>
            </a:r>
            <a:endParaRPr lang="en-US" sz="3600" b="1" dirty="0">
              <a:solidFill>
                <a:schemeClr val="accent6">
                  <a:lumMod val="75000"/>
                </a:schemeClr>
              </a:solidFill>
              <a:latin typeface="+mn-lt"/>
              <a:cs typeface="Arial"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166713317"/>
              </p:ext>
            </p:extLst>
          </p:nvPr>
        </p:nvGraphicFramePr>
        <p:xfrm>
          <a:off x="2819401" y="1397000"/>
          <a:ext cx="5791200" cy="5461000"/>
        </p:xfrm>
        <a:graphic>
          <a:graphicData uri="http://schemas.openxmlformats.org/presentationml/2006/ole">
            <mc:AlternateContent xmlns:mc="http://schemas.openxmlformats.org/markup-compatibility/2006">
              <mc:Choice xmlns:v="urn:schemas-microsoft-com:vml" Requires="v">
                <p:oleObj spid="_x0000_s4105" name="Worksheet" r:id="rId4" imgW="6877168" imgH="11934947" progId="Excel.Sheet.12">
                  <p:embed/>
                </p:oleObj>
              </mc:Choice>
              <mc:Fallback>
                <p:oleObj name="Worksheet" r:id="rId4" imgW="6877168" imgH="11934947" progId="Excel.Sheet.12">
                  <p:embed/>
                  <p:pic>
                    <p:nvPicPr>
                      <p:cNvPr id="0" name=""/>
                      <p:cNvPicPr/>
                      <p:nvPr/>
                    </p:nvPicPr>
                    <p:blipFill>
                      <a:blip r:embed="rId5"/>
                      <a:stretch>
                        <a:fillRect/>
                      </a:stretch>
                    </p:blipFill>
                    <p:spPr>
                      <a:xfrm>
                        <a:off x="2819401" y="1397000"/>
                        <a:ext cx="5791200" cy="5461000"/>
                      </a:xfrm>
                      <a:prstGeom prst="rect">
                        <a:avLst/>
                      </a:prstGeom>
                    </p:spPr>
                  </p:pic>
                </p:oleObj>
              </mc:Fallback>
            </mc:AlternateContent>
          </a:graphicData>
        </a:graphic>
      </p:graphicFrame>
    </p:spTree>
    <p:extLst>
      <p:ext uri="{BB962C8B-B14F-4D97-AF65-F5344CB8AC3E}">
        <p14:creationId xmlns:p14="http://schemas.microsoft.com/office/powerpoint/2010/main" val="3759275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76400" y="533400"/>
            <a:ext cx="8229600" cy="762000"/>
          </a:xfrm>
        </p:spPr>
        <p:txBody>
          <a:bodyPr>
            <a:noAutofit/>
          </a:bodyPr>
          <a:lstStyle/>
          <a:p>
            <a:r>
              <a:rPr lang="en-US" sz="4000" b="1" dirty="0">
                <a:solidFill>
                  <a:schemeClr val="accent6">
                    <a:lumMod val="75000"/>
                  </a:schemeClr>
                </a:solidFill>
                <a:latin typeface="+mn-lt"/>
                <a:cs typeface="Arial" pitchFamily="34" charset="0"/>
              </a:rPr>
              <a:t>Quality Initiatives</a:t>
            </a:r>
          </a:p>
        </p:txBody>
      </p:sp>
      <p:sp>
        <p:nvSpPr>
          <p:cNvPr id="5" name="Content Placeholder 2"/>
          <p:cNvSpPr>
            <a:spLocks noGrp="1"/>
          </p:cNvSpPr>
          <p:nvPr>
            <p:ph idx="1"/>
          </p:nvPr>
        </p:nvSpPr>
        <p:spPr>
          <a:xfrm>
            <a:off x="457200" y="2179637"/>
            <a:ext cx="8229600" cy="4525963"/>
          </a:xfrm>
        </p:spPr>
        <p:txBody>
          <a:bodyPr>
            <a:normAutofit/>
          </a:bodyPr>
          <a:lstStyle/>
          <a:p>
            <a:pPr marL="0" indent="0" algn="ctr">
              <a:buNone/>
            </a:pPr>
            <a:r>
              <a:rPr lang="en-GB" sz="2400" b="1" u="sng" dirty="0"/>
              <a:t>Pocket Cards </a:t>
            </a:r>
            <a:endParaRPr lang="en-GB" sz="2400" b="1" u="sng" dirty="0" smtClean="0"/>
          </a:p>
          <a:p>
            <a:pPr marL="0" indent="0">
              <a:buNone/>
            </a:pPr>
            <a:endParaRPr lang="en-GB" sz="2400" dirty="0"/>
          </a:p>
          <a:p>
            <a:pPr marL="0" indent="0" algn="just">
              <a:buNone/>
            </a:pPr>
            <a:r>
              <a:rPr lang="en-GB" sz="2400" dirty="0" smtClean="0"/>
              <a:t>The </a:t>
            </a:r>
            <a:r>
              <a:rPr lang="en-GB" sz="2400" dirty="0"/>
              <a:t>Quality Pocket Cards are the pocket sized cards which project persons can carry and refer in the field. </a:t>
            </a:r>
            <a:endParaRPr lang="en-GB" sz="2400" dirty="0" smtClean="0"/>
          </a:p>
          <a:p>
            <a:pPr marL="0" indent="0" algn="just">
              <a:buNone/>
            </a:pPr>
            <a:endParaRPr lang="en-GB" sz="2400" dirty="0"/>
          </a:p>
          <a:p>
            <a:pPr marL="0" indent="0" algn="just">
              <a:buNone/>
            </a:pPr>
            <a:r>
              <a:rPr lang="en-GB" sz="2400" dirty="0" smtClean="0"/>
              <a:t>The </a:t>
            </a:r>
            <a:r>
              <a:rPr lang="en-GB" sz="2400" dirty="0"/>
              <a:t>Project QA/QC Manager shall select or approve the content of these cards e.g. Lap lengths, concrete covers required , status of calibration, grades of concrete at different levels, unit weight of steel bars, aggregate etc. These cards should be distributed to project personnel</a:t>
            </a:r>
            <a:endParaRPr lang="en-US" sz="2400" dirty="0"/>
          </a:p>
        </p:txBody>
      </p:sp>
      <p:pic>
        <p:nvPicPr>
          <p:cNvPr id="6"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1470720" y="713656"/>
            <a:ext cx="8740080" cy="505544"/>
          </a:xfrm>
        </p:spPr>
        <p:txBody>
          <a:bodyPr>
            <a:noAutofit/>
          </a:bodyPr>
          <a:lstStyle/>
          <a:p>
            <a:pPr algn="ctr"/>
            <a:r>
              <a:rPr lang="en-GB" sz="3600" b="1" dirty="0">
                <a:solidFill>
                  <a:schemeClr val="accent6">
                    <a:lumMod val="75000"/>
                  </a:schemeClr>
                </a:solidFill>
              </a:rPr>
              <a:t>Sample Quality Pocket </a:t>
            </a:r>
            <a:r>
              <a:rPr lang="en-GB" sz="3600" b="1" dirty="0" smtClean="0">
                <a:solidFill>
                  <a:schemeClr val="accent6">
                    <a:lumMod val="75000"/>
                  </a:schemeClr>
                </a:solidFill>
              </a:rPr>
              <a:t>Cards</a:t>
            </a:r>
            <a:endParaRPr lang="en-GB" sz="3600" dirty="0">
              <a:solidFill>
                <a:schemeClr val="accent6">
                  <a:lumMod val="75000"/>
                </a:schemeClr>
              </a:solidFill>
            </a:endParaRPr>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9325"/>
          <a:stretch/>
        </p:blipFill>
        <p:spPr bwMode="auto">
          <a:xfrm>
            <a:off x="552450" y="2046887"/>
            <a:ext cx="4019550" cy="397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13686"/>
          <a:stretch/>
        </p:blipFill>
        <p:spPr bwMode="auto">
          <a:xfrm>
            <a:off x="4748673" y="1981200"/>
            <a:ext cx="4048125" cy="3962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828800" y="609600"/>
            <a:ext cx="8229600" cy="685800"/>
          </a:xfrm>
        </p:spPr>
        <p:txBody>
          <a:bodyPr>
            <a:noAutofit/>
          </a:bodyPr>
          <a:lstStyle/>
          <a:p>
            <a:r>
              <a:rPr lang="en-US" sz="3600" b="1" dirty="0">
                <a:solidFill>
                  <a:schemeClr val="accent6">
                    <a:lumMod val="75000"/>
                  </a:schemeClr>
                </a:solidFill>
                <a:latin typeface="+mn-lt"/>
                <a:cs typeface="Arial" pitchFamily="34" charset="0"/>
              </a:rPr>
              <a:t>Sample Idiot Guide for Quality</a:t>
            </a:r>
          </a:p>
        </p:txBody>
      </p:sp>
      <p:pic>
        <p:nvPicPr>
          <p:cNvPr id="6"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graphicFrame>
        <p:nvGraphicFramePr>
          <p:cNvPr id="8" name="Table 7"/>
          <p:cNvGraphicFramePr>
            <a:graphicFrameLocks noGrp="1"/>
          </p:cNvGraphicFramePr>
          <p:nvPr>
            <p:extLst>
              <p:ext uri="{D42A27DB-BD31-4B8C-83A1-F6EECF244321}">
                <p14:modId xmlns:p14="http://schemas.microsoft.com/office/powerpoint/2010/main" val="954465519"/>
              </p:ext>
            </p:extLst>
          </p:nvPr>
        </p:nvGraphicFramePr>
        <p:xfrm>
          <a:off x="609600" y="1914832"/>
          <a:ext cx="8001001" cy="4790768"/>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619389">
                  <a:extLst>
                    <a:ext uri="{9D8B030D-6E8A-4147-A177-3AD203B41FA5}">
                      <a16:colId xmlns:a16="http://schemas.microsoft.com/office/drawing/2014/main" val="20002"/>
                    </a:ext>
                  </a:extLst>
                </a:gridCol>
                <a:gridCol w="628722">
                  <a:extLst>
                    <a:ext uri="{9D8B030D-6E8A-4147-A177-3AD203B41FA5}">
                      <a16:colId xmlns:a16="http://schemas.microsoft.com/office/drawing/2014/main" val="20003"/>
                    </a:ext>
                  </a:extLst>
                </a:gridCol>
                <a:gridCol w="1933490">
                  <a:extLst>
                    <a:ext uri="{9D8B030D-6E8A-4147-A177-3AD203B41FA5}">
                      <a16:colId xmlns:a16="http://schemas.microsoft.com/office/drawing/2014/main" val="20004"/>
                    </a:ext>
                  </a:extLst>
                </a:gridCol>
              </a:tblGrid>
              <a:tr h="358197">
                <a:tc gridSpan="5">
                  <a:txBody>
                    <a:bodyPr/>
                    <a:lstStyle/>
                    <a:p>
                      <a:pPr algn="ctr" fontAlgn="ctr"/>
                      <a:r>
                        <a:rPr lang="en-US" sz="1800" u="none" strike="noStrike" dirty="0">
                          <a:effectLst/>
                          <a:latin typeface="+mn-lt"/>
                        </a:rPr>
                        <a:t>IMPORTANT BLOCK/PLASTER GUIDE</a:t>
                      </a:r>
                      <a:endParaRPr lang="en-US" sz="1800" b="1" i="0" u="none" strike="noStrike" dirty="0">
                        <a:solidFill>
                          <a:srgbClr val="000000"/>
                        </a:solidFill>
                        <a:effectLst/>
                        <a:latin typeface="+mn-lt"/>
                      </a:endParaRPr>
                    </a:p>
                  </a:txBody>
                  <a:tcPr marL="0" marR="0" marT="0" marB="0" anchor="ctr">
                    <a:solidFill>
                      <a:schemeClr val="accent6">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1403">
                <a:tc>
                  <a:txBody>
                    <a:bodyPr/>
                    <a:lstStyle/>
                    <a:p>
                      <a:pPr algn="ctr" fontAlgn="ctr"/>
                      <a:r>
                        <a:rPr lang="en-US" sz="1200" b="1" u="none" strike="noStrike" dirty="0">
                          <a:effectLst/>
                          <a:latin typeface="+mn-lt"/>
                        </a:rPr>
                        <a:t>S.NO</a:t>
                      </a:r>
                      <a:endParaRPr lang="en-US" sz="1200" b="1" i="0" u="none" strike="noStrike" dirty="0">
                        <a:solidFill>
                          <a:srgbClr val="000000"/>
                        </a:solidFill>
                        <a:effectLst/>
                        <a:latin typeface="+mn-lt"/>
                      </a:endParaRPr>
                    </a:p>
                  </a:txBody>
                  <a:tcPr marL="0" marR="0" marT="0" marB="0" anchor="ctr"/>
                </a:tc>
                <a:tc gridSpan="3">
                  <a:txBody>
                    <a:bodyPr/>
                    <a:lstStyle/>
                    <a:p>
                      <a:pPr algn="ctr" fontAlgn="b"/>
                      <a:r>
                        <a:rPr lang="en-US" sz="1200" b="1" u="none" strike="noStrike" dirty="0">
                          <a:effectLst/>
                          <a:latin typeface="+mn-lt"/>
                        </a:rPr>
                        <a:t>DESCRIPTION</a:t>
                      </a:r>
                      <a:endParaRPr lang="en-US" sz="1200" b="1" i="0" u="none" strike="noStrike" dirty="0">
                        <a:solidFill>
                          <a:srgbClr val="000000"/>
                        </a:solidFill>
                        <a:effectLst/>
                        <a:latin typeface="+mn-lt"/>
                      </a:endParaRPr>
                    </a:p>
                  </a:txBody>
                  <a:tcPr marL="0" marR="0" marT="0" marB="0" anchor="ctr"/>
                </a:tc>
                <a:tc hMerge="1">
                  <a:txBody>
                    <a:bodyPr/>
                    <a:lstStyle/>
                    <a:p>
                      <a:endParaRPr lang="en-US"/>
                    </a:p>
                  </a:txBody>
                  <a:tcPr/>
                </a:tc>
                <a:tc hMerge="1">
                  <a:txBody>
                    <a:bodyPr/>
                    <a:lstStyle/>
                    <a:p>
                      <a:endParaRPr lang="en-US"/>
                    </a:p>
                  </a:txBody>
                  <a:tcPr/>
                </a:tc>
                <a:tc>
                  <a:txBody>
                    <a:bodyPr/>
                    <a:lstStyle/>
                    <a:p>
                      <a:pPr algn="ctr" fontAlgn="b"/>
                      <a:r>
                        <a:rPr lang="en-US" sz="1200" b="1" u="none" strike="noStrike" dirty="0">
                          <a:effectLst/>
                          <a:latin typeface="+mn-lt"/>
                        </a:rPr>
                        <a:t>PHOTO</a:t>
                      </a:r>
                      <a:endParaRPr lang="en-US" sz="1200" b="1"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10001"/>
                  </a:ext>
                </a:extLst>
              </a:tr>
              <a:tr h="462588">
                <a:tc rowSpan="6">
                  <a:txBody>
                    <a:bodyPr/>
                    <a:lstStyle/>
                    <a:p>
                      <a:pPr algn="ctr" fontAlgn="ctr"/>
                      <a:r>
                        <a:rPr lang="en-US" sz="1200" u="none" strike="noStrike">
                          <a:effectLst/>
                          <a:latin typeface="+mn-lt"/>
                        </a:rPr>
                        <a:t>1</a:t>
                      </a:r>
                      <a:endParaRPr lang="en-US" sz="1200" b="0" i="0" u="none" strike="noStrike">
                        <a:solidFill>
                          <a:srgbClr val="000000"/>
                        </a:solidFill>
                        <a:effectLst/>
                        <a:latin typeface="+mn-lt"/>
                      </a:endParaRPr>
                    </a:p>
                  </a:txBody>
                  <a:tcPr marL="0" marR="0" marT="0" marB="0" anchor="ctr"/>
                </a:tc>
                <a:tc rowSpan="2">
                  <a:txBody>
                    <a:bodyPr/>
                    <a:lstStyle/>
                    <a:p>
                      <a:pPr algn="ctr" fontAlgn="ctr"/>
                      <a:r>
                        <a:rPr lang="en-US" sz="1200" u="none" strike="noStrike">
                          <a:effectLst/>
                          <a:latin typeface="+mn-lt"/>
                        </a:rPr>
                        <a:t>BLOCK WORK MIX RATIO:</a:t>
                      </a:r>
                      <a:endParaRPr lang="en-US" sz="1200" b="1" i="0" u="none" strike="noStrike">
                        <a:solidFill>
                          <a:srgbClr val="000000"/>
                        </a:solidFill>
                        <a:effectLst/>
                        <a:latin typeface="+mn-lt"/>
                      </a:endParaRPr>
                    </a:p>
                  </a:txBody>
                  <a:tcPr marL="0" marR="0" marT="0" marB="0" anchor="ctr"/>
                </a:tc>
                <a:tc>
                  <a:txBody>
                    <a:bodyPr/>
                    <a:lstStyle/>
                    <a:p>
                      <a:pPr algn="l" fontAlgn="ctr"/>
                      <a:r>
                        <a:rPr lang="en-US" sz="1200" u="none" strike="noStrike">
                          <a:effectLst/>
                          <a:latin typeface="+mn-lt"/>
                        </a:rPr>
                        <a:t>100 mm Block work</a:t>
                      </a:r>
                      <a:endParaRPr lang="en-US" sz="1200" b="0" i="0" u="none" strike="noStrike">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 1:4</a:t>
                      </a:r>
                      <a:endParaRPr lang="en-US" sz="1200" b="0" i="0" u="none" strike="noStrike">
                        <a:solidFill>
                          <a:srgbClr val="000000"/>
                        </a:solidFill>
                        <a:effectLst/>
                        <a:latin typeface="+mn-lt"/>
                      </a:endParaRPr>
                    </a:p>
                  </a:txBody>
                  <a:tcPr marL="0" marR="0" marT="0" marB="0" anchor="ctr"/>
                </a:tc>
                <a:tc rowSpan="2">
                  <a:txBody>
                    <a:bodyPr/>
                    <a:lstStyle/>
                    <a:p>
                      <a:pPr algn="l" fontAlgn="b"/>
                      <a:r>
                        <a:rPr lang="en-US" sz="1200" u="none" strike="noStrike">
                          <a:effectLst/>
                          <a:latin typeface="+mn-lt"/>
                        </a:rPr>
                        <a:t> </a:t>
                      </a:r>
                      <a:endParaRPr lang="en-US" sz="1200" b="0" i="0" u="none" strike="noStrike">
                        <a:solidFill>
                          <a:srgbClr val="000000"/>
                        </a:solidFill>
                        <a:effectLst/>
                        <a:latin typeface="+mn-lt"/>
                      </a:endParaRPr>
                    </a:p>
                  </a:txBody>
                  <a:tcPr marL="0" marR="0" marT="0" marB="0"/>
                </a:tc>
                <a:extLst>
                  <a:ext uri="{0D108BD9-81ED-4DB2-BD59-A6C34878D82A}">
                    <a16:rowId xmlns:a16="http://schemas.microsoft.com/office/drawing/2014/main" val="10002"/>
                  </a:ext>
                </a:extLst>
              </a:tr>
              <a:tr h="462588">
                <a:tc vMerge="1">
                  <a:txBody>
                    <a:bodyPr/>
                    <a:lstStyle/>
                    <a:p>
                      <a:endParaRPr lang="en-US"/>
                    </a:p>
                  </a:txBody>
                  <a:tcPr/>
                </a:tc>
                <a:tc vMerge="1">
                  <a:txBody>
                    <a:bodyPr/>
                    <a:lstStyle/>
                    <a:p>
                      <a:endParaRPr lang="en-US"/>
                    </a:p>
                  </a:txBody>
                  <a:tcPr/>
                </a:tc>
                <a:tc>
                  <a:txBody>
                    <a:bodyPr/>
                    <a:lstStyle/>
                    <a:p>
                      <a:pPr algn="l" fontAlgn="ctr"/>
                      <a:r>
                        <a:rPr lang="en-US" sz="1200" u="none" strike="noStrike">
                          <a:effectLst/>
                          <a:latin typeface="+mn-lt"/>
                        </a:rPr>
                        <a:t>Above 100 mm Block work</a:t>
                      </a:r>
                      <a:endParaRPr lang="en-US" sz="1200" b="0" i="0" u="none" strike="noStrike">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 1:6</a:t>
                      </a:r>
                      <a:endParaRPr lang="en-US" sz="1200" b="0" i="0" u="none" strike="noStrike">
                        <a:solidFill>
                          <a:srgbClr val="000000"/>
                        </a:solidFill>
                        <a:effectLst/>
                        <a:latin typeface="+mn-lt"/>
                      </a:endParaRPr>
                    </a:p>
                  </a:txBody>
                  <a:tcPr marL="0" marR="0" marT="0" marB="0" anchor="ctr"/>
                </a:tc>
                <a:tc vMerge="1">
                  <a:txBody>
                    <a:bodyPr/>
                    <a:lstStyle/>
                    <a:p>
                      <a:endParaRPr lang="en-US"/>
                    </a:p>
                  </a:txBody>
                  <a:tcPr/>
                </a:tc>
                <a:extLst>
                  <a:ext uri="{0D108BD9-81ED-4DB2-BD59-A6C34878D82A}">
                    <a16:rowId xmlns:a16="http://schemas.microsoft.com/office/drawing/2014/main" val="10003"/>
                  </a:ext>
                </a:extLst>
              </a:tr>
              <a:tr h="231294">
                <a:tc vMerge="1">
                  <a:txBody>
                    <a:bodyPr/>
                    <a:lstStyle/>
                    <a:p>
                      <a:endParaRPr lang="en-US"/>
                    </a:p>
                  </a:txBody>
                  <a:tcPr/>
                </a:tc>
                <a:tc rowSpan="4">
                  <a:txBody>
                    <a:bodyPr/>
                    <a:lstStyle/>
                    <a:p>
                      <a:pPr algn="ctr" fontAlgn="ctr"/>
                      <a:r>
                        <a:rPr lang="en-US" sz="1200" u="none" strike="noStrike">
                          <a:effectLst/>
                          <a:latin typeface="+mn-lt"/>
                        </a:rPr>
                        <a:t>PLASTERING MIX RATIO:</a:t>
                      </a:r>
                      <a:endParaRPr lang="en-US" sz="1200" b="1" i="0" u="none" strike="noStrike">
                        <a:solidFill>
                          <a:srgbClr val="000000"/>
                        </a:solidFill>
                        <a:effectLst/>
                        <a:latin typeface="+mn-lt"/>
                      </a:endParaRPr>
                    </a:p>
                  </a:txBody>
                  <a:tcPr marL="0" marR="0" marT="0" marB="0" anchor="ctr"/>
                </a:tc>
                <a:tc gridSpan="2">
                  <a:txBody>
                    <a:bodyPr/>
                    <a:lstStyle/>
                    <a:p>
                      <a:pPr algn="l" fontAlgn="ctr"/>
                      <a:r>
                        <a:rPr lang="en-US" sz="1200" u="none" strike="noStrike">
                          <a:effectLst/>
                          <a:latin typeface="+mn-lt"/>
                        </a:rPr>
                        <a:t>Wall plaster 1:4 (1:6 if ready mix)</a:t>
                      </a:r>
                      <a:endParaRPr lang="en-US" sz="1200" b="0" i="0" u="none" strike="noStrike">
                        <a:solidFill>
                          <a:srgbClr val="000000"/>
                        </a:solidFill>
                        <a:effectLst/>
                        <a:latin typeface="+mn-lt"/>
                      </a:endParaRPr>
                    </a:p>
                  </a:txBody>
                  <a:tcPr marL="166532" marR="0" marT="0" marB="0" anchor="ctr"/>
                </a:tc>
                <a:tc hMerge="1">
                  <a:txBody>
                    <a:bodyPr/>
                    <a:lstStyle/>
                    <a:p>
                      <a:endParaRPr lang="en-US"/>
                    </a:p>
                  </a:txBody>
                  <a:tcPr/>
                </a:tc>
                <a:tc rowSpan="4">
                  <a:txBody>
                    <a:bodyPr/>
                    <a:lstStyle/>
                    <a:p>
                      <a:pPr algn="l" fontAlgn="b"/>
                      <a:r>
                        <a:rPr lang="en-US" sz="1200" u="none" strike="noStrike">
                          <a:effectLst/>
                          <a:latin typeface="+mn-lt"/>
                        </a:rPr>
                        <a:t> </a:t>
                      </a:r>
                      <a:endParaRPr lang="en-US" sz="1200" b="0" i="0" u="none" strike="noStrike">
                        <a:solidFill>
                          <a:srgbClr val="000000"/>
                        </a:solidFill>
                        <a:effectLst/>
                        <a:latin typeface="+mn-lt"/>
                      </a:endParaRPr>
                    </a:p>
                  </a:txBody>
                  <a:tcPr marL="0" marR="0" marT="0" marB="0"/>
                </a:tc>
                <a:extLst>
                  <a:ext uri="{0D108BD9-81ED-4DB2-BD59-A6C34878D82A}">
                    <a16:rowId xmlns:a16="http://schemas.microsoft.com/office/drawing/2014/main" val="10004"/>
                  </a:ext>
                </a:extLst>
              </a:tr>
              <a:tr h="231294">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mn-lt"/>
                        </a:rPr>
                        <a:t>Ceiling plaster</a:t>
                      </a:r>
                      <a:endParaRPr lang="en-US" sz="1200" b="0" i="0" u="none" strike="noStrike" dirty="0">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 1:3</a:t>
                      </a:r>
                      <a:endParaRPr lang="en-US" sz="1200" b="0" i="0" u="none" strike="noStrike">
                        <a:solidFill>
                          <a:srgbClr val="000000"/>
                        </a:solidFill>
                        <a:effectLst/>
                        <a:latin typeface="+mn-lt"/>
                      </a:endParaRPr>
                    </a:p>
                  </a:txBody>
                  <a:tcPr marL="0" marR="0" marT="0" marB="0" anchor="ctr"/>
                </a:tc>
                <a:tc vMerge="1">
                  <a:txBody>
                    <a:bodyPr/>
                    <a:lstStyle/>
                    <a:p>
                      <a:endParaRPr lang="en-US"/>
                    </a:p>
                  </a:txBody>
                  <a:tcPr/>
                </a:tc>
                <a:extLst>
                  <a:ext uri="{0D108BD9-81ED-4DB2-BD59-A6C34878D82A}">
                    <a16:rowId xmlns:a16="http://schemas.microsoft.com/office/drawing/2014/main" val="10005"/>
                  </a:ext>
                </a:extLst>
              </a:tr>
              <a:tr h="231294">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mn-lt"/>
                        </a:rPr>
                        <a:t>Chasing filling </a:t>
                      </a:r>
                      <a:endParaRPr lang="en-US" sz="1200" b="0" i="0" u="none" strike="noStrike" dirty="0">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 1:3</a:t>
                      </a:r>
                      <a:endParaRPr lang="en-US" sz="1200" b="0" i="0" u="none" strike="noStrike">
                        <a:solidFill>
                          <a:srgbClr val="000000"/>
                        </a:solidFill>
                        <a:effectLst/>
                        <a:latin typeface="+mn-lt"/>
                      </a:endParaRPr>
                    </a:p>
                  </a:txBody>
                  <a:tcPr marL="0" marR="0" marT="0" marB="0" anchor="ctr"/>
                </a:tc>
                <a:tc vMerge="1">
                  <a:txBody>
                    <a:bodyPr/>
                    <a:lstStyle/>
                    <a:p>
                      <a:endParaRPr lang="en-US"/>
                    </a:p>
                  </a:txBody>
                  <a:tcPr/>
                </a:tc>
                <a:extLst>
                  <a:ext uri="{0D108BD9-81ED-4DB2-BD59-A6C34878D82A}">
                    <a16:rowId xmlns:a16="http://schemas.microsoft.com/office/drawing/2014/main" val="10006"/>
                  </a:ext>
                </a:extLst>
              </a:tr>
              <a:tr h="231294">
                <a:tc vMerge="1">
                  <a:txBody>
                    <a:bodyPr/>
                    <a:lstStyle/>
                    <a:p>
                      <a:endParaRPr lang="en-US"/>
                    </a:p>
                  </a:txBody>
                  <a:tcPr/>
                </a:tc>
                <a:tc vMerge="1">
                  <a:txBody>
                    <a:bodyPr/>
                    <a:lstStyle/>
                    <a:p>
                      <a:endParaRPr lang="en-US"/>
                    </a:p>
                  </a:txBody>
                  <a:tcPr/>
                </a:tc>
                <a:tc>
                  <a:txBody>
                    <a:bodyPr/>
                    <a:lstStyle/>
                    <a:p>
                      <a:pPr algn="l" fontAlgn="ctr"/>
                      <a:r>
                        <a:rPr lang="en-US" sz="1200" u="none" strike="noStrike" dirty="0" smtClean="0">
                          <a:effectLst/>
                          <a:latin typeface="+mn-lt"/>
                        </a:rPr>
                        <a:t>Fiber </a:t>
                      </a:r>
                      <a:r>
                        <a:rPr lang="en-US" sz="1200" u="none" strike="noStrike" dirty="0">
                          <a:effectLst/>
                          <a:latin typeface="+mn-lt"/>
                        </a:rPr>
                        <a:t>mesh fixing </a:t>
                      </a:r>
                      <a:endParaRPr lang="en-US" sz="1200" b="0" i="0" u="none" strike="noStrike" dirty="0">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 1:3</a:t>
                      </a:r>
                      <a:endParaRPr lang="en-US" sz="1200" b="0" i="0" u="none" strike="noStrike">
                        <a:solidFill>
                          <a:srgbClr val="000000"/>
                        </a:solidFill>
                        <a:effectLst/>
                        <a:latin typeface="+mn-lt"/>
                      </a:endParaRPr>
                    </a:p>
                  </a:txBody>
                  <a:tcPr marL="0" marR="0" marT="0" marB="0" anchor="ctr"/>
                </a:tc>
                <a:tc vMerge="1">
                  <a:txBody>
                    <a:bodyPr/>
                    <a:lstStyle/>
                    <a:p>
                      <a:endParaRPr lang="en-US"/>
                    </a:p>
                  </a:txBody>
                  <a:tcPr/>
                </a:tc>
                <a:extLst>
                  <a:ext uri="{0D108BD9-81ED-4DB2-BD59-A6C34878D82A}">
                    <a16:rowId xmlns:a16="http://schemas.microsoft.com/office/drawing/2014/main" val="10007"/>
                  </a:ext>
                </a:extLst>
              </a:tr>
              <a:tr h="314560">
                <a:tc rowSpan="4">
                  <a:txBody>
                    <a:bodyPr/>
                    <a:lstStyle/>
                    <a:p>
                      <a:pPr algn="ctr" fontAlgn="ctr"/>
                      <a:r>
                        <a:rPr lang="en-US" sz="1200" u="none" strike="noStrike">
                          <a:effectLst/>
                          <a:latin typeface="+mn-lt"/>
                        </a:rPr>
                        <a:t>2</a:t>
                      </a:r>
                      <a:endParaRPr lang="en-US" sz="1200" b="0" i="0" u="none" strike="noStrike">
                        <a:solidFill>
                          <a:srgbClr val="000000"/>
                        </a:solidFill>
                        <a:effectLst/>
                        <a:latin typeface="+mn-lt"/>
                      </a:endParaRPr>
                    </a:p>
                  </a:txBody>
                  <a:tcPr marL="0" marR="0" marT="0" marB="0" anchor="ctr"/>
                </a:tc>
                <a:tc rowSpan="4">
                  <a:txBody>
                    <a:bodyPr/>
                    <a:lstStyle/>
                    <a:p>
                      <a:pPr algn="ctr" fontAlgn="ctr"/>
                      <a:r>
                        <a:rPr lang="en-US" sz="1200" u="none" strike="noStrike">
                          <a:effectLst/>
                          <a:latin typeface="+mn-lt"/>
                        </a:rPr>
                        <a:t>PLASTER THICKNESS</a:t>
                      </a:r>
                      <a:endParaRPr lang="en-US" sz="1200" b="1" i="0" u="none" strike="noStrike">
                        <a:solidFill>
                          <a:srgbClr val="000000"/>
                        </a:solidFill>
                        <a:effectLst/>
                        <a:latin typeface="+mn-lt"/>
                      </a:endParaRPr>
                    </a:p>
                  </a:txBody>
                  <a:tcPr marL="0" marR="0" marT="0" marB="0" anchor="ctr"/>
                </a:tc>
                <a:tc>
                  <a:txBody>
                    <a:bodyPr/>
                    <a:lstStyle/>
                    <a:p>
                      <a:pPr algn="l" fontAlgn="ctr"/>
                      <a:r>
                        <a:rPr lang="en-US" sz="1200" u="none" strike="noStrike" dirty="0">
                          <a:effectLst/>
                          <a:latin typeface="+mn-lt"/>
                        </a:rPr>
                        <a:t>Ceiling  </a:t>
                      </a:r>
                      <a:endParaRPr lang="en-US" sz="1200" b="0" i="0" u="none" strike="noStrike" dirty="0">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10mm</a:t>
                      </a:r>
                      <a:endParaRPr lang="en-US" sz="1200" b="0" i="0" u="none" strike="noStrike">
                        <a:solidFill>
                          <a:srgbClr val="000000"/>
                        </a:solidFill>
                        <a:effectLst/>
                        <a:latin typeface="+mn-lt"/>
                      </a:endParaRPr>
                    </a:p>
                  </a:txBody>
                  <a:tcPr marL="0" marR="0" marT="0" marB="0" anchor="ctr"/>
                </a:tc>
                <a:tc rowSpan="4">
                  <a:txBody>
                    <a:bodyPr/>
                    <a:lstStyle/>
                    <a:p>
                      <a:pPr algn="l" fontAlgn="b"/>
                      <a:r>
                        <a:rPr lang="en-US" sz="1200" u="none" strike="noStrike">
                          <a:effectLst/>
                          <a:latin typeface="+mn-lt"/>
                        </a:rPr>
                        <a:t> </a:t>
                      </a:r>
                      <a:endParaRPr lang="en-US" sz="1200" b="0" i="0" u="none" strike="noStrike">
                        <a:solidFill>
                          <a:srgbClr val="000000"/>
                        </a:solidFill>
                        <a:effectLst/>
                        <a:latin typeface="+mn-lt"/>
                      </a:endParaRPr>
                    </a:p>
                  </a:txBody>
                  <a:tcPr marL="0" marR="0" marT="0" marB="0"/>
                </a:tc>
                <a:extLst>
                  <a:ext uri="{0D108BD9-81ED-4DB2-BD59-A6C34878D82A}">
                    <a16:rowId xmlns:a16="http://schemas.microsoft.com/office/drawing/2014/main" val="10008"/>
                  </a:ext>
                </a:extLst>
              </a:tr>
              <a:tr h="314560">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mn-lt"/>
                        </a:rPr>
                        <a:t>Inner wall</a:t>
                      </a:r>
                      <a:endParaRPr lang="en-US" sz="1200" b="0" i="0" u="none" strike="noStrike" dirty="0">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12mm</a:t>
                      </a:r>
                      <a:endParaRPr lang="en-US" sz="1200" b="0" i="0" u="none" strike="noStrike">
                        <a:solidFill>
                          <a:srgbClr val="000000"/>
                        </a:solidFill>
                        <a:effectLst/>
                        <a:latin typeface="+mn-lt"/>
                      </a:endParaRPr>
                    </a:p>
                  </a:txBody>
                  <a:tcPr marL="0" marR="0" marT="0" marB="0" anchor="ctr"/>
                </a:tc>
                <a:tc vMerge="1">
                  <a:txBody>
                    <a:bodyPr/>
                    <a:lstStyle/>
                    <a:p>
                      <a:endParaRPr lang="en-US"/>
                    </a:p>
                  </a:txBody>
                  <a:tcPr/>
                </a:tc>
                <a:extLst>
                  <a:ext uri="{0D108BD9-81ED-4DB2-BD59-A6C34878D82A}">
                    <a16:rowId xmlns:a16="http://schemas.microsoft.com/office/drawing/2014/main" val="10009"/>
                  </a:ext>
                </a:extLst>
              </a:tr>
              <a:tr h="314560">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mn-lt"/>
                        </a:rPr>
                        <a:t>External wall</a:t>
                      </a:r>
                      <a:endParaRPr lang="en-US" sz="1200" b="0" i="0" u="none" strike="noStrike" dirty="0">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20mm</a:t>
                      </a:r>
                      <a:endParaRPr lang="en-US" sz="1200" b="0" i="0" u="none" strike="noStrike">
                        <a:solidFill>
                          <a:srgbClr val="000000"/>
                        </a:solidFill>
                        <a:effectLst/>
                        <a:latin typeface="+mn-lt"/>
                      </a:endParaRPr>
                    </a:p>
                  </a:txBody>
                  <a:tcPr marL="0" marR="0" marT="0" marB="0" anchor="ctr"/>
                </a:tc>
                <a:tc vMerge="1">
                  <a:txBody>
                    <a:bodyPr/>
                    <a:lstStyle/>
                    <a:p>
                      <a:endParaRPr lang="en-US"/>
                    </a:p>
                  </a:txBody>
                  <a:tcPr/>
                </a:tc>
                <a:extLst>
                  <a:ext uri="{0D108BD9-81ED-4DB2-BD59-A6C34878D82A}">
                    <a16:rowId xmlns:a16="http://schemas.microsoft.com/office/drawing/2014/main" val="10010"/>
                  </a:ext>
                </a:extLst>
              </a:tr>
              <a:tr h="325662">
                <a:tc vMerge="1">
                  <a:txBody>
                    <a:bodyPr/>
                    <a:lstStyle/>
                    <a:p>
                      <a:endParaRPr lang="en-US"/>
                    </a:p>
                  </a:txBody>
                  <a:tcPr/>
                </a:tc>
                <a:tc vMerge="1">
                  <a:txBody>
                    <a:bodyPr/>
                    <a:lstStyle/>
                    <a:p>
                      <a:endParaRPr lang="en-US"/>
                    </a:p>
                  </a:txBody>
                  <a:tcPr/>
                </a:tc>
                <a:tc>
                  <a:txBody>
                    <a:bodyPr/>
                    <a:lstStyle/>
                    <a:p>
                      <a:pPr algn="l" fontAlgn="ctr"/>
                      <a:r>
                        <a:rPr lang="en-US" sz="1200" u="none" strike="noStrike">
                          <a:effectLst/>
                          <a:latin typeface="+mn-lt"/>
                        </a:rPr>
                        <a:t>Block Bed mortar(Block around)</a:t>
                      </a:r>
                      <a:endParaRPr lang="en-US" sz="1200" b="0" i="0" u="none" strike="noStrike">
                        <a:solidFill>
                          <a:srgbClr val="000000"/>
                        </a:solidFill>
                        <a:effectLst/>
                        <a:latin typeface="+mn-lt"/>
                      </a:endParaRPr>
                    </a:p>
                  </a:txBody>
                  <a:tcPr marL="166532" marR="0" marT="0" marB="0" anchor="ctr"/>
                </a:tc>
                <a:tc>
                  <a:txBody>
                    <a:bodyPr/>
                    <a:lstStyle/>
                    <a:p>
                      <a:pPr algn="l" fontAlgn="ctr"/>
                      <a:r>
                        <a:rPr lang="en-US" sz="1200" u="none" strike="noStrike">
                          <a:effectLst/>
                          <a:latin typeface="+mn-lt"/>
                        </a:rPr>
                        <a:t>12mm</a:t>
                      </a:r>
                      <a:endParaRPr lang="en-US" sz="1200" b="0" i="0" u="none" strike="noStrike">
                        <a:solidFill>
                          <a:srgbClr val="000000"/>
                        </a:solidFill>
                        <a:effectLst/>
                        <a:latin typeface="+mn-lt"/>
                      </a:endParaRPr>
                    </a:p>
                  </a:txBody>
                  <a:tcPr marL="0" marR="0" marT="0" marB="0" anchor="ctr"/>
                </a:tc>
                <a:tc vMerge="1">
                  <a:txBody>
                    <a:bodyPr/>
                    <a:lstStyle/>
                    <a:p>
                      <a:endParaRPr lang="en-US"/>
                    </a:p>
                  </a:txBody>
                  <a:tcPr/>
                </a:tc>
                <a:extLst>
                  <a:ext uri="{0D108BD9-81ED-4DB2-BD59-A6C34878D82A}">
                    <a16:rowId xmlns:a16="http://schemas.microsoft.com/office/drawing/2014/main" val="10011"/>
                  </a:ext>
                </a:extLst>
              </a:tr>
              <a:tr h="1061474">
                <a:tc>
                  <a:txBody>
                    <a:bodyPr/>
                    <a:lstStyle/>
                    <a:p>
                      <a:pPr algn="ctr" fontAlgn="ctr"/>
                      <a:r>
                        <a:rPr lang="en-US" sz="1200" u="none" strike="noStrike">
                          <a:effectLst/>
                          <a:latin typeface="+mn-lt"/>
                        </a:rPr>
                        <a:t>3</a:t>
                      </a:r>
                      <a:endParaRPr lang="en-US" sz="1200" b="0" i="0" u="none" strike="noStrike">
                        <a:solidFill>
                          <a:srgbClr val="000000"/>
                        </a:solidFill>
                        <a:effectLst/>
                        <a:latin typeface="+mn-lt"/>
                      </a:endParaRPr>
                    </a:p>
                  </a:txBody>
                  <a:tcPr marL="0" marR="0" marT="0" marB="0" anchor="ctr"/>
                </a:tc>
                <a:tc gridSpan="3">
                  <a:txBody>
                    <a:bodyPr/>
                    <a:lstStyle/>
                    <a:p>
                      <a:pPr algn="l" fontAlgn="ctr"/>
                      <a:r>
                        <a:rPr lang="en-US" sz="1200" u="none" strike="noStrike" dirty="0">
                          <a:effectLst/>
                          <a:latin typeface="+mn-lt"/>
                        </a:rPr>
                        <a:t>Fix </a:t>
                      </a:r>
                      <a:r>
                        <a:rPr lang="en-US" sz="1200" u="none" strike="noStrike" dirty="0" smtClean="0">
                          <a:effectLst/>
                          <a:latin typeface="+mn-lt"/>
                        </a:rPr>
                        <a:t>fiber </a:t>
                      </a:r>
                      <a:r>
                        <a:rPr lang="en-US" sz="1200" u="none" strike="noStrike" dirty="0">
                          <a:effectLst/>
                          <a:latin typeface="+mn-lt"/>
                        </a:rPr>
                        <a:t>mesh over Conduits and blocks &amp; concrete joints</a:t>
                      </a:r>
                      <a:endParaRPr lang="en-US" sz="1200" b="0" i="0" u="none" strike="noStrike" dirty="0">
                        <a:solidFill>
                          <a:srgbClr val="000000"/>
                        </a:solidFill>
                        <a:effectLst/>
                        <a:latin typeface="+mn-lt"/>
                      </a:endParaRPr>
                    </a:p>
                  </a:txBody>
                  <a:tcPr marL="83266" marR="0" marT="0" marB="0" anchor="ctr"/>
                </a:tc>
                <a:tc hMerge="1">
                  <a:txBody>
                    <a:bodyPr/>
                    <a:lstStyle/>
                    <a:p>
                      <a:endParaRPr lang="en-US"/>
                    </a:p>
                  </a:txBody>
                  <a:tcPr/>
                </a:tc>
                <a:tc hMerge="1">
                  <a:txBody>
                    <a:bodyPr/>
                    <a:lstStyle/>
                    <a:p>
                      <a:endParaRPr lang="en-US"/>
                    </a:p>
                  </a:txBody>
                  <a:tcPr/>
                </a:tc>
                <a:tc>
                  <a:txBody>
                    <a:bodyPr/>
                    <a:lstStyle/>
                    <a:p>
                      <a:pPr algn="l" fontAlgn="b"/>
                      <a:endParaRPr lang="en-US" sz="1200" b="0" i="0" u="none" strike="noStrike" dirty="0">
                        <a:solidFill>
                          <a:srgbClr val="000000"/>
                        </a:solidFill>
                        <a:effectLst/>
                        <a:latin typeface="+mn-lt"/>
                      </a:endParaRPr>
                    </a:p>
                  </a:txBody>
                  <a:tcPr marL="0" marR="0" marT="0" marB="0" anchor="b"/>
                </a:tc>
                <a:extLst>
                  <a:ext uri="{0D108BD9-81ED-4DB2-BD59-A6C34878D82A}">
                    <a16:rowId xmlns:a16="http://schemas.microsoft.com/office/drawing/2014/main" val="10012"/>
                  </a:ext>
                </a:extLst>
              </a:tr>
            </a:tbl>
          </a:graphicData>
        </a:graphic>
      </p:graphicFrame>
      <p:pic>
        <p:nvPicPr>
          <p:cNvPr id="9" name="Picture 8" descr="C:\Users\biju.pillai\Desktop\mic\DSC00019.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5286" y="2533650"/>
            <a:ext cx="1865313" cy="895350"/>
          </a:xfrm>
          <a:prstGeom prst="rect">
            <a:avLst/>
          </a:prstGeom>
          <a:noFill/>
          <a:ln>
            <a:noFill/>
          </a:ln>
        </p:spPr>
      </p:pic>
      <p:pic>
        <p:nvPicPr>
          <p:cNvPr id="10" name="Picture 9" descr="C:\Users\biju.pillai\AppData\Local\Microsoft\Windows\Temporary Internet Files\Content.Word\IMG_2251.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45286" y="3500438"/>
            <a:ext cx="1865313" cy="842962"/>
          </a:xfrm>
          <a:prstGeom prst="rect">
            <a:avLst/>
          </a:prstGeom>
          <a:noFill/>
          <a:ln>
            <a:noFill/>
          </a:ln>
        </p:spPr>
      </p:pic>
      <p:pic>
        <p:nvPicPr>
          <p:cNvPr id="11" name="Picture 10" descr="C:\Users\sriram.narayanasamy\AppData\Local\Microsoft\Windows\Temporary Internet Files\Content.Word\IMG_2318.jpg"/>
          <p:cNvPicPr/>
          <p:nvPr/>
        </p:nvPicPr>
        <p:blipFill>
          <a:blip r:embed="rId5" cstate="print">
            <a:extLst>
              <a:ext uri="{28A0092B-C50C-407E-A947-70E740481C1C}">
                <a14:useLocalDpi xmlns:a14="http://schemas.microsoft.com/office/drawing/2010/main" val="0"/>
              </a:ext>
            </a:extLst>
          </a:blip>
          <a:stretch>
            <a:fillRect/>
          </a:stretch>
        </p:blipFill>
        <p:spPr bwMode="auto">
          <a:xfrm>
            <a:off x="6745286" y="5743575"/>
            <a:ext cx="1865313" cy="885825"/>
          </a:xfrm>
          <a:prstGeom prst="rect">
            <a:avLst/>
          </a:prstGeom>
          <a:noFill/>
          <a:ln>
            <a:noFill/>
          </a:ln>
        </p:spPr>
      </p:pic>
      <p:pic>
        <p:nvPicPr>
          <p:cNvPr id="12" name="Picture 11" descr="C:\Users\sriram.narayanasamy\AppData\Local\Microsoft\Windows\Temporary Internet Files\Content.Word\IMG_2332.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45285" y="4429125"/>
            <a:ext cx="1865313" cy="1209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Title 1"/>
          <p:cNvSpPr>
            <a:spLocks noGrp="1"/>
          </p:cNvSpPr>
          <p:nvPr>
            <p:ph type="title"/>
          </p:nvPr>
        </p:nvSpPr>
        <p:spPr>
          <a:xfrm>
            <a:off x="1676400" y="655638"/>
            <a:ext cx="8229600" cy="715962"/>
          </a:xfrm>
        </p:spPr>
        <p:txBody>
          <a:bodyPr>
            <a:noAutofit/>
          </a:bodyPr>
          <a:lstStyle/>
          <a:p>
            <a:r>
              <a:rPr lang="en-US" sz="3600" b="1" dirty="0">
                <a:solidFill>
                  <a:schemeClr val="accent6">
                    <a:lumMod val="75000"/>
                  </a:schemeClr>
                </a:solidFill>
                <a:latin typeface="+mn-lt"/>
                <a:cs typeface="Arial" pitchFamily="34" charset="0"/>
              </a:rPr>
              <a:t>Sample Idiot Guide for Quality</a:t>
            </a:r>
          </a:p>
        </p:txBody>
      </p:sp>
      <p:graphicFrame>
        <p:nvGraphicFramePr>
          <p:cNvPr id="6" name="Table 5"/>
          <p:cNvGraphicFramePr>
            <a:graphicFrameLocks noGrp="1"/>
          </p:cNvGraphicFramePr>
          <p:nvPr>
            <p:extLst>
              <p:ext uri="{D42A27DB-BD31-4B8C-83A1-F6EECF244321}">
                <p14:modId xmlns:p14="http://schemas.microsoft.com/office/powerpoint/2010/main" val="2119467517"/>
              </p:ext>
            </p:extLst>
          </p:nvPr>
        </p:nvGraphicFramePr>
        <p:xfrm>
          <a:off x="685800" y="2255379"/>
          <a:ext cx="7848600" cy="3840621"/>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47244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1219200">
                <a:tc>
                  <a:txBody>
                    <a:bodyPr/>
                    <a:lstStyle/>
                    <a:p>
                      <a:pPr algn="ctr" fontAlgn="ctr"/>
                      <a:r>
                        <a:rPr lang="en-US" sz="1400" u="none" strike="noStrike" dirty="0">
                          <a:effectLst/>
                          <a:latin typeface="+mn-lt"/>
                        </a:rPr>
                        <a:t>4</a:t>
                      </a:r>
                      <a:endParaRPr lang="en-US" sz="1400" b="0" i="0" u="none" strike="noStrike" dirty="0">
                        <a:solidFill>
                          <a:srgbClr val="000000"/>
                        </a:solidFill>
                        <a:effectLst/>
                        <a:latin typeface="+mn-lt"/>
                      </a:endParaRPr>
                    </a:p>
                  </a:txBody>
                  <a:tcPr marL="0" marR="0" marT="0" marB="0" anchor="ctr"/>
                </a:tc>
                <a:tc>
                  <a:txBody>
                    <a:bodyPr/>
                    <a:lstStyle/>
                    <a:p>
                      <a:pPr algn="l" fontAlgn="ctr"/>
                      <a:r>
                        <a:rPr lang="en-US" sz="1400" u="none" strike="noStrike" dirty="0">
                          <a:effectLst/>
                          <a:latin typeface="+mn-lt"/>
                        </a:rPr>
                        <a:t>Mix </a:t>
                      </a:r>
                      <a:r>
                        <a:rPr lang="en-US" sz="1400" u="none" strike="noStrike" dirty="0" smtClean="0">
                          <a:effectLst/>
                          <a:latin typeface="+mn-lt"/>
                        </a:rPr>
                        <a:t>mortar </a:t>
                      </a:r>
                      <a:r>
                        <a:rPr lang="en-US" sz="1400" u="none" strike="noStrike" dirty="0">
                          <a:effectLst/>
                          <a:latin typeface="+mn-lt"/>
                        </a:rPr>
                        <a:t>Quantity for 2 hours requirement only</a:t>
                      </a:r>
                      <a:endParaRPr lang="en-US" sz="1400" b="0" i="0" u="none" strike="noStrike" dirty="0">
                        <a:solidFill>
                          <a:srgbClr val="000000"/>
                        </a:solidFill>
                        <a:effectLst/>
                        <a:latin typeface="+mn-lt"/>
                      </a:endParaRPr>
                    </a:p>
                  </a:txBody>
                  <a:tcPr marL="57615" marR="0" marT="0" marB="0" anchor="ctr"/>
                </a:tc>
                <a:tc>
                  <a:txBody>
                    <a:bodyPr/>
                    <a:lstStyle/>
                    <a:p>
                      <a:pPr algn="l" fontAlgn="b"/>
                      <a:r>
                        <a:rPr lang="en-US" sz="1400" u="none" strike="noStrike">
                          <a:effectLst/>
                          <a:latin typeface="+mn-lt"/>
                        </a:rPr>
                        <a:t> </a:t>
                      </a:r>
                      <a:endParaRPr lang="en-US" sz="1400" b="0" i="0" u="none" strike="noStrike">
                        <a:solidFill>
                          <a:srgbClr val="000000"/>
                        </a:solidFill>
                        <a:effectLst/>
                        <a:latin typeface="+mn-lt"/>
                      </a:endParaRPr>
                    </a:p>
                  </a:txBody>
                  <a:tcPr marL="0" marR="0" marT="0" marB="0"/>
                </a:tc>
                <a:extLst>
                  <a:ext uri="{0D108BD9-81ED-4DB2-BD59-A6C34878D82A}">
                    <a16:rowId xmlns:a16="http://schemas.microsoft.com/office/drawing/2014/main" val="10000"/>
                  </a:ext>
                </a:extLst>
              </a:tr>
              <a:tr h="1127808">
                <a:tc>
                  <a:txBody>
                    <a:bodyPr/>
                    <a:lstStyle/>
                    <a:p>
                      <a:pPr algn="ctr" fontAlgn="ctr"/>
                      <a:r>
                        <a:rPr lang="en-US" sz="1400" u="none" strike="noStrike" dirty="0">
                          <a:effectLst/>
                          <a:latin typeface="+mn-lt"/>
                        </a:rPr>
                        <a:t>5</a:t>
                      </a:r>
                      <a:endParaRPr lang="en-US" sz="1400" b="0" i="0" u="none" strike="noStrike" dirty="0">
                        <a:solidFill>
                          <a:srgbClr val="000000"/>
                        </a:solidFill>
                        <a:effectLst/>
                        <a:latin typeface="+mn-lt"/>
                      </a:endParaRPr>
                    </a:p>
                  </a:txBody>
                  <a:tcPr marL="0" marR="0" marT="0" marB="0" anchor="ctr"/>
                </a:tc>
                <a:tc>
                  <a:txBody>
                    <a:bodyPr/>
                    <a:lstStyle/>
                    <a:p>
                      <a:pPr algn="l" fontAlgn="ctr"/>
                      <a:r>
                        <a:rPr lang="en-US" sz="1400" u="none" strike="noStrike" dirty="0">
                          <a:effectLst/>
                          <a:latin typeface="+mn-lt"/>
                        </a:rPr>
                        <a:t>Wet the blocks with water prior to use.</a:t>
                      </a:r>
                      <a:endParaRPr lang="en-US" sz="1400" b="0" i="0" u="none" strike="noStrike" dirty="0">
                        <a:solidFill>
                          <a:srgbClr val="000000"/>
                        </a:solidFill>
                        <a:effectLst/>
                        <a:latin typeface="+mn-lt"/>
                      </a:endParaRPr>
                    </a:p>
                  </a:txBody>
                  <a:tcPr marL="57615" marR="0" marT="0" marB="0" anchor="ctr"/>
                </a:tc>
                <a:tc>
                  <a:txBody>
                    <a:bodyPr/>
                    <a:lstStyle/>
                    <a:p>
                      <a:pPr algn="l" fontAlgn="b"/>
                      <a:r>
                        <a:rPr lang="en-US" sz="1400" u="none" strike="noStrike">
                          <a:effectLst/>
                          <a:latin typeface="+mn-lt"/>
                        </a:rPr>
                        <a:t>ͦͦ</a:t>
                      </a:r>
                      <a:endParaRPr lang="en-US" sz="1400" b="0" i="0" u="none" strike="noStrike">
                        <a:solidFill>
                          <a:srgbClr val="000000"/>
                        </a:solidFill>
                        <a:effectLst/>
                        <a:latin typeface="+mn-lt"/>
                      </a:endParaRPr>
                    </a:p>
                  </a:txBody>
                  <a:tcPr marL="0" marR="0" marT="0" marB="0"/>
                </a:tc>
                <a:extLst>
                  <a:ext uri="{0D108BD9-81ED-4DB2-BD59-A6C34878D82A}">
                    <a16:rowId xmlns:a16="http://schemas.microsoft.com/office/drawing/2014/main" val="10001"/>
                  </a:ext>
                </a:extLst>
              </a:tr>
              <a:tr h="1493613">
                <a:tc>
                  <a:txBody>
                    <a:bodyPr/>
                    <a:lstStyle/>
                    <a:p>
                      <a:pPr algn="ctr" fontAlgn="ctr"/>
                      <a:r>
                        <a:rPr lang="en-US" sz="1400" u="none" strike="noStrike" dirty="0">
                          <a:effectLst/>
                          <a:latin typeface="+mn-lt"/>
                        </a:rPr>
                        <a:t>6</a:t>
                      </a:r>
                      <a:endParaRPr lang="en-US" sz="1400" b="0" i="0" u="none" strike="noStrike" dirty="0">
                        <a:solidFill>
                          <a:srgbClr val="000000"/>
                        </a:solidFill>
                        <a:effectLst/>
                        <a:latin typeface="+mn-lt"/>
                      </a:endParaRPr>
                    </a:p>
                  </a:txBody>
                  <a:tcPr marL="0" marR="0" marT="0" marB="0" anchor="ctr"/>
                </a:tc>
                <a:tc>
                  <a:txBody>
                    <a:bodyPr/>
                    <a:lstStyle/>
                    <a:p>
                      <a:pPr algn="l" fontAlgn="ctr"/>
                      <a:r>
                        <a:rPr lang="en-US" sz="1400" u="none" strike="noStrike" dirty="0">
                          <a:effectLst/>
                          <a:latin typeface="+mn-lt"/>
                        </a:rPr>
                        <a:t>Use straight edges and line thread to maintain line &amp; level.</a:t>
                      </a:r>
                      <a:endParaRPr lang="en-US" sz="1400" b="0" i="0" u="none" strike="noStrike" dirty="0">
                        <a:solidFill>
                          <a:srgbClr val="000000"/>
                        </a:solidFill>
                        <a:effectLst/>
                        <a:latin typeface="+mn-lt"/>
                      </a:endParaRPr>
                    </a:p>
                  </a:txBody>
                  <a:tcPr marL="57615" marR="0" marT="0" marB="0" anchor="ctr"/>
                </a:tc>
                <a:tc>
                  <a:txBody>
                    <a:bodyPr/>
                    <a:lstStyle/>
                    <a:p>
                      <a:pPr algn="l" fontAlgn="b"/>
                      <a:endParaRPr lang="en-US" sz="1400" b="0" i="0" u="none" strike="noStrike" dirty="0">
                        <a:solidFill>
                          <a:srgbClr val="000000"/>
                        </a:solidFill>
                        <a:effectLst/>
                        <a:latin typeface="+mn-lt"/>
                      </a:endParaRPr>
                    </a:p>
                  </a:txBody>
                  <a:tcPr marL="0" marR="0" marT="0" marB="0" anchor="b"/>
                </a:tc>
                <a:extLst>
                  <a:ext uri="{0D108BD9-81ED-4DB2-BD59-A6C34878D82A}">
                    <a16:rowId xmlns:a16="http://schemas.microsoft.com/office/drawing/2014/main" val="10002"/>
                  </a:ext>
                </a:extLst>
              </a:tr>
            </a:tbl>
          </a:graphicData>
        </a:graphic>
      </p:graphicFrame>
      <p:pic>
        <p:nvPicPr>
          <p:cNvPr id="7" name="Picture 6" descr="C:\Users\biju.pillai\AppData\Local\Microsoft\Windows\Temporary Internet Files\Content.Word\IMG_228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2331579"/>
            <a:ext cx="1714500" cy="1066800"/>
          </a:xfrm>
          <a:prstGeom prst="rect">
            <a:avLst/>
          </a:prstGeom>
          <a:noFill/>
          <a:ln>
            <a:noFill/>
          </a:ln>
        </p:spPr>
      </p:pic>
      <p:pic>
        <p:nvPicPr>
          <p:cNvPr id="8" name="Picture 7" descr="C:\Users\sriram.narayanasamy\AppData\Local\Microsoft\Windows\Temporary Internet Files\Content.Word\IMG_2326.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9400" y="4693779"/>
            <a:ext cx="1714500" cy="1295400"/>
          </a:xfrm>
          <a:prstGeom prst="rect">
            <a:avLst/>
          </a:prstGeom>
          <a:noFill/>
          <a:ln>
            <a:noFill/>
          </a:ln>
        </p:spPr>
      </p:pic>
      <p:pic>
        <p:nvPicPr>
          <p:cNvPr id="9" name="Picture 8" descr="C:\Users\navas.ismail\Desktop\IMG_2408.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29400" y="3607929"/>
            <a:ext cx="1714500" cy="990600"/>
          </a:xfrm>
          <a:prstGeom prst="rect">
            <a:avLst/>
          </a:prstGeom>
          <a:noFill/>
          <a:ln>
            <a:noFill/>
          </a:ln>
        </p:spPr>
      </p:pic>
      <p:graphicFrame>
        <p:nvGraphicFramePr>
          <p:cNvPr id="10" name="Table 9"/>
          <p:cNvGraphicFramePr>
            <a:graphicFrameLocks noGrp="1"/>
          </p:cNvGraphicFramePr>
          <p:nvPr>
            <p:extLst>
              <p:ext uri="{D42A27DB-BD31-4B8C-83A1-F6EECF244321}">
                <p14:modId xmlns:p14="http://schemas.microsoft.com/office/powerpoint/2010/main" val="59297533"/>
              </p:ext>
            </p:extLst>
          </p:nvPr>
        </p:nvGraphicFramePr>
        <p:xfrm>
          <a:off x="685800" y="1981200"/>
          <a:ext cx="7848600" cy="251403"/>
        </p:xfrm>
        <a:graphic>
          <a:graphicData uri="http://schemas.openxmlformats.org/drawingml/2006/table">
            <a:tbl>
              <a:tblPr>
                <a:tableStyleId>{5C22544A-7EE6-4342-B048-85BDC9FD1C3A}</a:tableStyleId>
              </a:tblPr>
              <a:tblGrid>
                <a:gridCol w="1154206">
                  <a:extLst>
                    <a:ext uri="{9D8B030D-6E8A-4147-A177-3AD203B41FA5}">
                      <a16:colId xmlns:a16="http://schemas.microsoft.com/office/drawing/2014/main" val="20000"/>
                    </a:ext>
                  </a:extLst>
                </a:gridCol>
                <a:gridCol w="2002477">
                  <a:extLst>
                    <a:ext uri="{9D8B030D-6E8A-4147-A177-3AD203B41FA5}">
                      <a16:colId xmlns:a16="http://schemas.microsoft.com/office/drawing/2014/main" val="20001"/>
                    </a:ext>
                  </a:extLst>
                </a:gridCol>
                <a:gridCol w="2178509">
                  <a:extLst>
                    <a:ext uri="{9D8B030D-6E8A-4147-A177-3AD203B41FA5}">
                      <a16:colId xmlns:a16="http://schemas.microsoft.com/office/drawing/2014/main" val="20002"/>
                    </a:ext>
                  </a:extLst>
                </a:gridCol>
                <a:gridCol w="616747">
                  <a:extLst>
                    <a:ext uri="{9D8B030D-6E8A-4147-A177-3AD203B41FA5}">
                      <a16:colId xmlns:a16="http://schemas.microsoft.com/office/drawing/2014/main" val="20003"/>
                    </a:ext>
                  </a:extLst>
                </a:gridCol>
                <a:gridCol w="1896661">
                  <a:extLst>
                    <a:ext uri="{9D8B030D-6E8A-4147-A177-3AD203B41FA5}">
                      <a16:colId xmlns:a16="http://schemas.microsoft.com/office/drawing/2014/main" val="20004"/>
                    </a:ext>
                  </a:extLst>
                </a:gridCol>
              </a:tblGrid>
              <a:tr h="251403">
                <a:tc>
                  <a:txBody>
                    <a:bodyPr/>
                    <a:lstStyle/>
                    <a:p>
                      <a:pPr algn="ctr" fontAlgn="ctr"/>
                      <a:r>
                        <a:rPr lang="en-US" sz="1100" b="1" u="none" strike="noStrike" dirty="0">
                          <a:effectLst/>
                        </a:rPr>
                        <a:t>S.NO</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tc gridSpan="3">
                  <a:txBody>
                    <a:bodyPr/>
                    <a:lstStyle/>
                    <a:p>
                      <a:pPr algn="ctr" fontAlgn="b"/>
                      <a:r>
                        <a:rPr lang="en-US" sz="1100" b="1" u="none" strike="noStrike" dirty="0">
                          <a:effectLst/>
                        </a:rPr>
                        <a:t>DESCRIPTION</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tc hMerge="1">
                  <a:txBody>
                    <a:bodyPr/>
                    <a:lstStyle/>
                    <a:p>
                      <a:endParaRPr lang="en-US"/>
                    </a:p>
                  </a:txBody>
                  <a:tcPr/>
                </a:tc>
                <a:tc hMerge="1">
                  <a:txBody>
                    <a:bodyPr/>
                    <a:lstStyle/>
                    <a:p>
                      <a:endParaRPr lang="en-US"/>
                    </a:p>
                  </a:txBody>
                  <a:tcPr/>
                </a:tc>
                <a:tc>
                  <a:txBody>
                    <a:bodyPr/>
                    <a:lstStyle/>
                    <a:p>
                      <a:pPr algn="ctr" fontAlgn="b"/>
                      <a:r>
                        <a:rPr lang="en-US" sz="1100" b="1" u="none" strike="noStrike" dirty="0">
                          <a:effectLst/>
                        </a:rPr>
                        <a:t>PHOTO</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470567688"/>
              </p:ext>
            </p:extLst>
          </p:nvPr>
        </p:nvGraphicFramePr>
        <p:xfrm>
          <a:off x="609600" y="2286000"/>
          <a:ext cx="7848600" cy="4267200"/>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47244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1066800">
                <a:tc>
                  <a:txBody>
                    <a:bodyPr/>
                    <a:lstStyle/>
                    <a:p>
                      <a:pPr algn="ctr" fontAlgn="ctr"/>
                      <a:r>
                        <a:rPr lang="en-US" sz="1400" u="none" strike="noStrike" dirty="0">
                          <a:effectLst/>
                        </a:rPr>
                        <a:t>7</a:t>
                      </a:r>
                      <a:endParaRPr lang="en-US" sz="1400" b="0" i="0" u="none" strike="noStrike" dirty="0">
                        <a:solidFill>
                          <a:srgbClr val="000000"/>
                        </a:solidFill>
                        <a:effectLst/>
                        <a:latin typeface="Calibri"/>
                      </a:endParaRPr>
                    </a:p>
                  </a:txBody>
                  <a:tcPr marL="0" marR="0" marT="0" marB="0" anchor="ctr"/>
                </a:tc>
                <a:tc>
                  <a:txBody>
                    <a:bodyPr/>
                    <a:lstStyle/>
                    <a:p>
                      <a:pPr algn="l" fontAlgn="ctr"/>
                      <a:r>
                        <a:rPr lang="en-US" sz="1400" u="none" strike="noStrike" dirty="0">
                          <a:effectLst/>
                        </a:rPr>
                        <a:t>Maintain straight and clean interface between wall &amp; ceiling joints.</a:t>
                      </a:r>
                      <a:endParaRPr lang="en-US" sz="1400" b="0" i="0" u="none" strike="noStrike" dirty="0">
                        <a:solidFill>
                          <a:srgbClr val="000000"/>
                        </a:solidFill>
                        <a:effectLst/>
                        <a:latin typeface="Calibri"/>
                      </a:endParaRPr>
                    </a:p>
                  </a:txBody>
                  <a:tcPr marL="57615"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0"/>
                  </a:ext>
                </a:extLst>
              </a:tr>
              <a:tr h="1066800">
                <a:tc>
                  <a:txBody>
                    <a:bodyPr/>
                    <a:lstStyle/>
                    <a:p>
                      <a:pPr algn="ctr" fontAlgn="ctr"/>
                      <a:r>
                        <a:rPr lang="en-US" sz="1400" u="none" strike="noStrike">
                          <a:effectLst/>
                        </a:rPr>
                        <a:t>8</a:t>
                      </a:r>
                      <a:endParaRPr lang="en-US" sz="1400" b="0" i="0" u="none" strike="noStrike">
                        <a:solidFill>
                          <a:srgbClr val="000000"/>
                        </a:solidFill>
                        <a:effectLst/>
                        <a:latin typeface="Calibri"/>
                      </a:endParaRPr>
                    </a:p>
                  </a:txBody>
                  <a:tcPr marL="0" marR="0" marT="0" marB="0" anchor="ctr"/>
                </a:tc>
                <a:tc>
                  <a:txBody>
                    <a:bodyPr/>
                    <a:lstStyle/>
                    <a:p>
                      <a:pPr algn="l" fontAlgn="ctr"/>
                      <a:r>
                        <a:rPr lang="en-US" sz="1400" u="none" strike="noStrike" dirty="0">
                          <a:effectLst/>
                        </a:rPr>
                        <a:t>Reuse the falling </a:t>
                      </a:r>
                      <a:r>
                        <a:rPr lang="en-US" sz="1400" u="none" strike="noStrike" dirty="0" smtClean="0">
                          <a:effectLst/>
                        </a:rPr>
                        <a:t>mortar </a:t>
                      </a:r>
                      <a:r>
                        <a:rPr lang="en-US" sz="1400" u="none" strike="noStrike" dirty="0">
                          <a:effectLst/>
                        </a:rPr>
                        <a:t>within 1 hour</a:t>
                      </a:r>
                      <a:endParaRPr lang="en-US" sz="1400" b="0" i="0" u="none" strike="noStrike" dirty="0">
                        <a:solidFill>
                          <a:srgbClr val="000000"/>
                        </a:solidFill>
                        <a:effectLst/>
                        <a:latin typeface="Calibri"/>
                      </a:endParaRPr>
                    </a:p>
                  </a:txBody>
                  <a:tcPr marL="57615"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1"/>
                  </a:ext>
                </a:extLst>
              </a:tr>
              <a:tr h="1066800">
                <a:tc>
                  <a:txBody>
                    <a:bodyPr/>
                    <a:lstStyle/>
                    <a:p>
                      <a:pPr algn="ctr" fontAlgn="ctr"/>
                      <a:r>
                        <a:rPr lang="en-US" sz="1400" u="none" strike="noStrike">
                          <a:effectLst/>
                        </a:rPr>
                        <a:t>9</a:t>
                      </a:r>
                      <a:endParaRPr lang="en-US" sz="1400" b="0" i="0" u="none" strike="noStrike">
                        <a:solidFill>
                          <a:srgbClr val="000000"/>
                        </a:solidFill>
                        <a:effectLst/>
                        <a:latin typeface="Calibri"/>
                      </a:endParaRPr>
                    </a:p>
                  </a:txBody>
                  <a:tcPr marL="0" marR="0" marT="0" marB="0" anchor="ctr"/>
                </a:tc>
                <a:tc>
                  <a:txBody>
                    <a:bodyPr/>
                    <a:lstStyle/>
                    <a:p>
                      <a:pPr algn="l" fontAlgn="ctr"/>
                      <a:r>
                        <a:rPr lang="en-US" sz="1400" u="none" strike="noStrike" dirty="0">
                          <a:effectLst/>
                        </a:rPr>
                        <a:t>Plaster construction joints should be 90 degree.</a:t>
                      </a:r>
                      <a:endParaRPr lang="en-US" sz="1400" b="0" i="0" u="none" strike="noStrike" dirty="0">
                        <a:solidFill>
                          <a:srgbClr val="000000"/>
                        </a:solidFill>
                        <a:effectLst/>
                        <a:latin typeface="Calibri"/>
                      </a:endParaRPr>
                    </a:p>
                  </a:txBody>
                  <a:tcPr marL="0"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2"/>
                  </a:ext>
                </a:extLst>
              </a:tr>
              <a:tr h="1066800">
                <a:tc>
                  <a:txBody>
                    <a:bodyPr/>
                    <a:lstStyle/>
                    <a:p>
                      <a:pPr algn="ctr" fontAlgn="ctr"/>
                      <a:r>
                        <a:rPr lang="en-US" sz="1400" u="none" strike="noStrike">
                          <a:effectLst/>
                        </a:rPr>
                        <a:t>10</a:t>
                      </a:r>
                      <a:endParaRPr lang="en-US" sz="1400" b="0" i="0" u="none" strike="noStrike">
                        <a:solidFill>
                          <a:srgbClr val="000000"/>
                        </a:solidFill>
                        <a:effectLst/>
                        <a:latin typeface="Calibri"/>
                      </a:endParaRPr>
                    </a:p>
                  </a:txBody>
                  <a:tcPr marL="0" marR="0" marT="0" marB="0" anchor="ctr"/>
                </a:tc>
                <a:tc>
                  <a:txBody>
                    <a:bodyPr/>
                    <a:lstStyle/>
                    <a:p>
                      <a:pPr algn="l" fontAlgn="ctr"/>
                      <a:r>
                        <a:rPr lang="en-US" sz="1400" u="none" strike="noStrike" dirty="0">
                          <a:effectLst/>
                        </a:rPr>
                        <a:t>Write date on the wall and do the curing for the 7 days.</a:t>
                      </a:r>
                      <a:endParaRPr lang="en-US" sz="1400" b="0" i="0" u="none" strike="noStrike" dirty="0">
                        <a:solidFill>
                          <a:srgbClr val="000000"/>
                        </a:solidFill>
                        <a:effectLst/>
                        <a:latin typeface="Calibri"/>
                      </a:endParaRPr>
                    </a:p>
                  </a:txBody>
                  <a:tcPr marL="0"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3"/>
                  </a:ext>
                </a:extLst>
              </a:tr>
            </a:tbl>
          </a:graphicData>
        </a:graphic>
      </p:graphicFrame>
      <p:sp>
        <p:nvSpPr>
          <p:cNvPr id="5" name="Title 1"/>
          <p:cNvSpPr>
            <a:spLocks noGrp="1"/>
          </p:cNvSpPr>
          <p:nvPr>
            <p:ph type="title"/>
          </p:nvPr>
        </p:nvSpPr>
        <p:spPr>
          <a:xfrm>
            <a:off x="1676400" y="685800"/>
            <a:ext cx="8229600" cy="715962"/>
          </a:xfrm>
        </p:spPr>
        <p:txBody>
          <a:bodyPr>
            <a:noAutofit/>
          </a:bodyPr>
          <a:lstStyle/>
          <a:p>
            <a:r>
              <a:rPr lang="en-US" sz="3600" b="1" dirty="0">
                <a:solidFill>
                  <a:schemeClr val="accent6">
                    <a:lumMod val="75000"/>
                  </a:schemeClr>
                </a:solidFill>
                <a:latin typeface="+mn-lt"/>
                <a:cs typeface="Arial" pitchFamily="34" charset="0"/>
              </a:rPr>
              <a:t>Sample Idiot Guide for Quality</a:t>
            </a:r>
          </a:p>
        </p:txBody>
      </p:sp>
      <p:pic>
        <p:nvPicPr>
          <p:cNvPr id="6" name="Picture 5" descr="C:\Users\biju.pillai\Desktop\mic\IMG_2184.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3429000"/>
            <a:ext cx="2019298" cy="990600"/>
          </a:xfrm>
          <a:prstGeom prst="rect">
            <a:avLst/>
          </a:prstGeom>
          <a:noFill/>
          <a:ln>
            <a:noFill/>
          </a:ln>
        </p:spPr>
      </p:pic>
      <p:pic>
        <p:nvPicPr>
          <p:cNvPr id="7" name="Picture 6" descr="C:\Users\sriram.narayanasamy\AppData\Local\Microsoft\Windows\Temporary Internet Files\Content.Word\IMG_232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2286000"/>
            <a:ext cx="2019298" cy="1066800"/>
          </a:xfrm>
          <a:prstGeom prst="rect">
            <a:avLst/>
          </a:prstGeom>
          <a:noFill/>
          <a:ln>
            <a:noFill/>
          </a:ln>
        </p:spPr>
      </p:pic>
      <p:pic>
        <p:nvPicPr>
          <p:cNvPr id="8" name="Picture 7" descr="C:\Users\sriram.narayanasamy\AppData\Local\Microsoft\Windows\Temporary Internet Files\Content.Word\IMG_2320.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438650"/>
            <a:ext cx="2019298" cy="1047750"/>
          </a:xfrm>
          <a:prstGeom prst="rect">
            <a:avLst/>
          </a:prstGeom>
          <a:noFill/>
          <a:ln>
            <a:noFill/>
          </a:ln>
        </p:spPr>
      </p:pic>
      <p:pic>
        <p:nvPicPr>
          <p:cNvPr id="9" name="Picture 8" descr="C:\Users\sriram.narayanasamy\AppData\Local\Microsoft\Windows\Temporary Internet Files\Content.Word\IMG_2329.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7000" y="5572126"/>
            <a:ext cx="2019298" cy="981074"/>
          </a:xfrm>
          <a:prstGeom prst="rect">
            <a:avLst/>
          </a:prstGeom>
          <a:noFill/>
          <a:ln>
            <a:noFill/>
          </a:ln>
        </p:spPr>
      </p:pic>
      <p:graphicFrame>
        <p:nvGraphicFramePr>
          <p:cNvPr id="10" name="Table 9"/>
          <p:cNvGraphicFramePr>
            <a:graphicFrameLocks noGrp="1"/>
          </p:cNvGraphicFramePr>
          <p:nvPr>
            <p:extLst>
              <p:ext uri="{D42A27DB-BD31-4B8C-83A1-F6EECF244321}">
                <p14:modId xmlns:p14="http://schemas.microsoft.com/office/powerpoint/2010/main" val="2439945959"/>
              </p:ext>
            </p:extLst>
          </p:nvPr>
        </p:nvGraphicFramePr>
        <p:xfrm>
          <a:off x="609600" y="2034597"/>
          <a:ext cx="7886699" cy="251403"/>
        </p:xfrm>
        <a:graphic>
          <a:graphicData uri="http://schemas.openxmlformats.org/drawingml/2006/table">
            <a:tbl>
              <a:tblPr>
                <a:tableStyleId>{5C22544A-7EE6-4342-B048-85BDC9FD1C3A}</a:tableStyleId>
              </a:tblPr>
              <a:tblGrid>
                <a:gridCol w="1159809">
                  <a:extLst>
                    <a:ext uri="{9D8B030D-6E8A-4147-A177-3AD203B41FA5}">
                      <a16:colId xmlns:a16="http://schemas.microsoft.com/office/drawing/2014/main" val="20000"/>
                    </a:ext>
                  </a:extLst>
                </a:gridCol>
                <a:gridCol w="2012197">
                  <a:extLst>
                    <a:ext uri="{9D8B030D-6E8A-4147-A177-3AD203B41FA5}">
                      <a16:colId xmlns:a16="http://schemas.microsoft.com/office/drawing/2014/main" val="20001"/>
                    </a:ext>
                  </a:extLst>
                </a:gridCol>
                <a:gridCol w="2189084">
                  <a:extLst>
                    <a:ext uri="{9D8B030D-6E8A-4147-A177-3AD203B41FA5}">
                      <a16:colId xmlns:a16="http://schemas.microsoft.com/office/drawing/2014/main" val="20002"/>
                    </a:ext>
                  </a:extLst>
                </a:gridCol>
                <a:gridCol w="506310">
                  <a:extLst>
                    <a:ext uri="{9D8B030D-6E8A-4147-A177-3AD203B41FA5}">
                      <a16:colId xmlns:a16="http://schemas.microsoft.com/office/drawing/2014/main" val="20003"/>
                    </a:ext>
                  </a:extLst>
                </a:gridCol>
                <a:gridCol w="2019299">
                  <a:extLst>
                    <a:ext uri="{9D8B030D-6E8A-4147-A177-3AD203B41FA5}">
                      <a16:colId xmlns:a16="http://schemas.microsoft.com/office/drawing/2014/main" val="20004"/>
                    </a:ext>
                  </a:extLst>
                </a:gridCol>
              </a:tblGrid>
              <a:tr h="251403">
                <a:tc>
                  <a:txBody>
                    <a:bodyPr/>
                    <a:lstStyle/>
                    <a:p>
                      <a:pPr algn="ctr" fontAlgn="ctr"/>
                      <a:r>
                        <a:rPr lang="en-US" sz="1100" b="1" u="none" strike="noStrike" dirty="0">
                          <a:effectLst/>
                        </a:rPr>
                        <a:t>S.NO</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tc gridSpan="3">
                  <a:txBody>
                    <a:bodyPr/>
                    <a:lstStyle/>
                    <a:p>
                      <a:pPr algn="ctr" fontAlgn="b"/>
                      <a:r>
                        <a:rPr lang="en-US" sz="1100" b="1" u="none" strike="noStrike" dirty="0">
                          <a:effectLst/>
                        </a:rPr>
                        <a:t>DESCRIPTION</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tc hMerge="1">
                  <a:txBody>
                    <a:bodyPr/>
                    <a:lstStyle/>
                    <a:p>
                      <a:endParaRPr lang="en-US"/>
                    </a:p>
                  </a:txBody>
                  <a:tcPr/>
                </a:tc>
                <a:tc hMerge="1">
                  <a:txBody>
                    <a:bodyPr/>
                    <a:lstStyle/>
                    <a:p>
                      <a:endParaRPr lang="en-US"/>
                    </a:p>
                  </a:txBody>
                  <a:tcPr/>
                </a:tc>
                <a:tc>
                  <a:txBody>
                    <a:bodyPr/>
                    <a:lstStyle/>
                    <a:p>
                      <a:pPr algn="ctr" fontAlgn="b"/>
                      <a:r>
                        <a:rPr lang="en-US" sz="1100" b="1" u="none" strike="noStrike" dirty="0">
                          <a:effectLst/>
                        </a:rPr>
                        <a:t>PHOTO</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extLst>
                  <a:ext uri="{0D108BD9-81ED-4DB2-BD59-A6C34878D82A}">
                    <a16:rowId xmlns:a16="http://schemas.microsoft.com/office/drawing/2014/main" val="10000"/>
                  </a:ext>
                </a:extLst>
              </a:tr>
            </a:tbl>
          </a:graphicData>
        </a:graphic>
      </p:graphicFrame>
      <p:pic>
        <p:nvPicPr>
          <p:cNvPr id="11" name="Picture 1" descr="C:\Users\akshay.samudre\Downloads\Strong-Built-Logo.png"/>
          <p:cNvPicPr>
            <a:picLocks noChangeAspect="1" noChangeArrowheads="1"/>
          </p:cNvPicPr>
          <p:nvPr/>
        </p:nvPicPr>
        <p:blipFill>
          <a:blip r:embed="rId6" cstate="print"/>
          <a:srcRect/>
          <a:stretch>
            <a:fillRect/>
          </a:stretch>
        </p:blipFill>
        <p:spPr bwMode="auto">
          <a:xfrm>
            <a:off x="76200" y="76200"/>
            <a:ext cx="2590800" cy="17526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470567688"/>
              </p:ext>
            </p:extLst>
          </p:nvPr>
        </p:nvGraphicFramePr>
        <p:xfrm>
          <a:off x="609600" y="2286000"/>
          <a:ext cx="7848600" cy="4267200"/>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47244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1066800">
                <a:tc>
                  <a:txBody>
                    <a:bodyPr/>
                    <a:lstStyle/>
                    <a:p>
                      <a:pPr algn="ctr" fontAlgn="ctr"/>
                      <a:r>
                        <a:rPr lang="en-US" sz="1400" u="none" strike="noStrike" dirty="0">
                          <a:effectLst/>
                        </a:rPr>
                        <a:t>7</a:t>
                      </a:r>
                      <a:endParaRPr lang="en-US" sz="1400" b="0" i="0" u="none" strike="noStrike" dirty="0">
                        <a:solidFill>
                          <a:srgbClr val="000000"/>
                        </a:solidFill>
                        <a:effectLst/>
                        <a:latin typeface="Calibri"/>
                      </a:endParaRPr>
                    </a:p>
                  </a:txBody>
                  <a:tcPr marL="0" marR="0" marT="0" marB="0" anchor="ctr"/>
                </a:tc>
                <a:tc>
                  <a:txBody>
                    <a:bodyPr/>
                    <a:lstStyle/>
                    <a:p>
                      <a:pPr algn="l" fontAlgn="ctr"/>
                      <a:r>
                        <a:rPr lang="en-US" sz="1400" u="none" strike="noStrike" dirty="0">
                          <a:effectLst/>
                        </a:rPr>
                        <a:t>Maintain straight and clean interface between wall &amp; ceiling joints.</a:t>
                      </a:r>
                      <a:endParaRPr lang="en-US" sz="1400" b="0" i="0" u="none" strike="noStrike" dirty="0">
                        <a:solidFill>
                          <a:srgbClr val="000000"/>
                        </a:solidFill>
                        <a:effectLst/>
                        <a:latin typeface="Calibri"/>
                      </a:endParaRPr>
                    </a:p>
                  </a:txBody>
                  <a:tcPr marL="57615"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0"/>
                  </a:ext>
                </a:extLst>
              </a:tr>
              <a:tr h="1066800">
                <a:tc>
                  <a:txBody>
                    <a:bodyPr/>
                    <a:lstStyle/>
                    <a:p>
                      <a:pPr algn="ctr" fontAlgn="ctr"/>
                      <a:r>
                        <a:rPr lang="en-US" sz="1400" u="none" strike="noStrike">
                          <a:effectLst/>
                        </a:rPr>
                        <a:t>8</a:t>
                      </a:r>
                      <a:endParaRPr lang="en-US" sz="1400" b="0" i="0" u="none" strike="noStrike">
                        <a:solidFill>
                          <a:srgbClr val="000000"/>
                        </a:solidFill>
                        <a:effectLst/>
                        <a:latin typeface="Calibri"/>
                      </a:endParaRPr>
                    </a:p>
                  </a:txBody>
                  <a:tcPr marL="0" marR="0" marT="0" marB="0" anchor="ctr"/>
                </a:tc>
                <a:tc>
                  <a:txBody>
                    <a:bodyPr/>
                    <a:lstStyle/>
                    <a:p>
                      <a:pPr algn="l" fontAlgn="ctr"/>
                      <a:r>
                        <a:rPr lang="en-US" sz="1400" u="none" strike="noStrike" dirty="0">
                          <a:effectLst/>
                        </a:rPr>
                        <a:t>Reuse the falling </a:t>
                      </a:r>
                      <a:r>
                        <a:rPr lang="en-US" sz="1400" u="none" strike="noStrike" dirty="0" smtClean="0">
                          <a:effectLst/>
                        </a:rPr>
                        <a:t>mortar </a:t>
                      </a:r>
                      <a:r>
                        <a:rPr lang="en-US" sz="1400" u="none" strike="noStrike" dirty="0">
                          <a:effectLst/>
                        </a:rPr>
                        <a:t>within 1 hour</a:t>
                      </a:r>
                      <a:endParaRPr lang="en-US" sz="1400" b="0" i="0" u="none" strike="noStrike" dirty="0">
                        <a:solidFill>
                          <a:srgbClr val="000000"/>
                        </a:solidFill>
                        <a:effectLst/>
                        <a:latin typeface="Calibri"/>
                      </a:endParaRPr>
                    </a:p>
                  </a:txBody>
                  <a:tcPr marL="57615"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1"/>
                  </a:ext>
                </a:extLst>
              </a:tr>
              <a:tr h="1066800">
                <a:tc>
                  <a:txBody>
                    <a:bodyPr/>
                    <a:lstStyle/>
                    <a:p>
                      <a:pPr algn="ctr" fontAlgn="ctr"/>
                      <a:r>
                        <a:rPr lang="en-US" sz="1400" u="none" strike="noStrike">
                          <a:effectLst/>
                        </a:rPr>
                        <a:t>9</a:t>
                      </a:r>
                      <a:endParaRPr lang="en-US" sz="1400" b="0" i="0" u="none" strike="noStrike">
                        <a:solidFill>
                          <a:srgbClr val="000000"/>
                        </a:solidFill>
                        <a:effectLst/>
                        <a:latin typeface="Calibri"/>
                      </a:endParaRPr>
                    </a:p>
                  </a:txBody>
                  <a:tcPr marL="0" marR="0" marT="0" marB="0" anchor="ctr"/>
                </a:tc>
                <a:tc>
                  <a:txBody>
                    <a:bodyPr/>
                    <a:lstStyle/>
                    <a:p>
                      <a:pPr algn="l" fontAlgn="ctr"/>
                      <a:r>
                        <a:rPr lang="en-US" sz="1400" u="none" strike="noStrike" dirty="0">
                          <a:effectLst/>
                        </a:rPr>
                        <a:t>Plaster construction joints should be 90 degree.</a:t>
                      </a:r>
                      <a:endParaRPr lang="en-US" sz="1400" b="0" i="0" u="none" strike="noStrike" dirty="0">
                        <a:solidFill>
                          <a:srgbClr val="000000"/>
                        </a:solidFill>
                        <a:effectLst/>
                        <a:latin typeface="Calibri"/>
                      </a:endParaRPr>
                    </a:p>
                  </a:txBody>
                  <a:tcPr marL="0"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2"/>
                  </a:ext>
                </a:extLst>
              </a:tr>
              <a:tr h="1066800">
                <a:tc>
                  <a:txBody>
                    <a:bodyPr/>
                    <a:lstStyle/>
                    <a:p>
                      <a:pPr algn="ctr" fontAlgn="ctr"/>
                      <a:r>
                        <a:rPr lang="en-US" sz="1400" u="none" strike="noStrike">
                          <a:effectLst/>
                        </a:rPr>
                        <a:t>10</a:t>
                      </a:r>
                      <a:endParaRPr lang="en-US" sz="1400" b="0" i="0" u="none" strike="noStrike">
                        <a:solidFill>
                          <a:srgbClr val="000000"/>
                        </a:solidFill>
                        <a:effectLst/>
                        <a:latin typeface="Calibri"/>
                      </a:endParaRPr>
                    </a:p>
                  </a:txBody>
                  <a:tcPr marL="0" marR="0" marT="0" marB="0" anchor="ctr"/>
                </a:tc>
                <a:tc>
                  <a:txBody>
                    <a:bodyPr/>
                    <a:lstStyle/>
                    <a:p>
                      <a:pPr algn="l" fontAlgn="ctr"/>
                      <a:r>
                        <a:rPr lang="en-US" sz="1400" u="none" strike="noStrike" dirty="0">
                          <a:effectLst/>
                        </a:rPr>
                        <a:t>Write date on the wall and do the curing for the 7 days.</a:t>
                      </a:r>
                      <a:endParaRPr lang="en-US" sz="1400" b="0" i="0" u="none" strike="noStrike" dirty="0">
                        <a:solidFill>
                          <a:srgbClr val="000000"/>
                        </a:solidFill>
                        <a:effectLst/>
                        <a:latin typeface="Calibri"/>
                      </a:endParaRPr>
                    </a:p>
                  </a:txBody>
                  <a:tcPr marL="0" marR="0" marT="0" marB="0" anchor="ctr"/>
                </a:tc>
                <a:tc>
                  <a:txBody>
                    <a:bodyPr/>
                    <a:lstStyle/>
                    <a:p>
                      <a:pPr algn="l" fontAlgn="b"/>
                      <a:endParaRPr lang="en-US" sz="1050" b="0" i="0" u="none" strike="noStrike" dirty="0">
                        <a:solidFill>
                          <a:srgbClr val="000000"/>
                        </a:solidFill>
                        <a:effectLst/>
                        <a:latin typeface="Calibri"/>
                      </a:endParaRPr>
                    </a:p>
                  </a:txBody>
                  <a:tcPr marL="0" marR="0" marT="0" marB="0" anchor="b"/>
                </a:tc>
                <a:extLst>
                  <a:ext uri="{0D108BD9-81ED-4DB2-BD59-A6C34878D82A}">
                    <a16:rowId xmlns:a16="http://schemas.microsoft.com/office/drawing/2014/main" val="10003"/>
                  </a:ext>
                </a:extLst>
              </a:tr>
            </a:tbl>
          </a:graphicData>
        </a:graphic>
      </p:graphicFrame>
      <p:sp>
        <p:nvSpPr>
          <p:cNvPr id="5" name="Title 1"/>
          <p:cNvSpPr>
            <a:spLocks noGrp="1"/>
          </p:cNvSpPr>
          <p:nvPr>
            <p:ph type="title"/>
          </p:nvPr>
        </p:nvSpPr>
        <p:spPr>
          <a:xfrm>
            <a:off x="1676400" y="685800"/>
            <a:ext cx="8229600" cy="715962"/>
          </a:xfrm>
        </p:spPr>
        <p:txBody>
          <a:bodyPr>
            <a:noAutofit/>
          </a:bodyPr>
          <a:lstStyle/>
          <a:p>
            <a:r>
              <a:rPr lang="en-US" sz="3600" b="1" dirty="0">
                <a:solidFill>
                  <a:schemeClr val="accent6">
                    <a:lumMod val="75000"/>
                  </a:schemeClr>
                </a:solidFill>
                <a:latin typeface="+mn-lt"/>
                <a:cs typeface="Arial" pitchFamily="34" charset="0"/>
              </a:rPr>
              <a:t>Sample Idiot Guide for Quality</a:t>
            </a:r>
          </a:p>
        </p:txBody>
      </p:sp>
      <p:pic>
        <p:nvPicPr>
          <p:cNvPr id="6" name="Picture 5" descr="C:\Users\biju.pillai\Desktop\mic\IMG_2184.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3429000"/>
            <a:ext cx="2019298" cy="990600"/>
          </a:xfrm>
          <a:prstGeom prst="rect">
            <a:avLst/>
          </a:prstGeom>
          <a:noFill/>
          <a:ln>
            <a:noFill/>
          </a:ln>
        </p:spPr>
      </p:pic>
      <p:pic>
        <p:nvPicPr>
          <p:cNvPr id="7" name="Picture 6" descr="C:\Users\sriram.narayanasamy\AppData\Local\Microsoft\Windows\Temporary Internet Files\Content.Word\IMG_232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2286000"/>
            <a:ext cx="2019298" cy="1066800"/>
          </a:xfrm>
          <a:prstGeom prst="rect">
            <a:avLst/>
          </a:prstGeom>
          <a:noFill/>
          <a:ln>
            <a:noFill/>
          </a:ln>
        </p:spPr>
      </p:pic>
      <p:pic>
        <p:nvPicPr>
          <p:cNvPr id="8" name="Picture 7" descr="C:\Users\sriram.narayanasamy\AppData\Local\Microsoft\Windows\Temporary Internet Files\Content.Word\IMG_2320.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438650"/>
            <a:ext cx="2019298" cy="1047750"/>
          </a:xfrm>
          <a:prstGeom prst="rect">
            <a:avLst/>
          </a:prstGeom>
          <a:noFill/>
          <a:ln>
            <a:noFill/>
          </a:ln>
        </p:spPr>
      </p:pic>
      <p:pic>
        <p:nvPicPr>
          <p:cNvPr id="9" name="Picture 8" descr="C:\Users\sriram.narayanasamy\AppData\Local\Microsoft\Windows\Temporary Internet Files\Content.Word\IMG_2329.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7000" y="5572126"/>
            <a:ext cx="2019298" cy="981074"/>
          </a:xfrm>
          <a:prstGeom prst="rect">
            <a:avLst/>
          </a:prstGeom>
          <a:noFill/>
          <a:ln>
            <a:noFill/>
          </a:ln>
        </p:spPr>
      </p:pic>
      <p:graphicFrame>
        <p:nvGraphicFramePr>
          <p:cNvPr id="10" name="Table 9"/>
          <p:cNvGraphicFramePr>
            <a:graphicFrameLocks noGrp="1"/>
          </p:cNvGraphicFramePr>
          <p:nvPr>
            <p:extLst>
              <p:ext uri="{D42A27DB-BD31-4B8C-83A1-F6EECF244321}">
                <p14:modId xmlns:p14="http://schemas.microsoft.com/office/powerpoint/2010/main" val="2439945959"/>
              </p:ext>
            </p:extLst>
          </p:nvPr>
        </p:nvGraphicFramePr>
        <p:xfrm>
          <a:off x="609600" y="2034597"/>
          <a:ext cx="7886699" cy="251403"/>
        </p:xfrm>
        <a:graphic>
          <a:graphicData uri="http://schemas.openxmlformats.org/drawingml/2006/table">
            <a:tbl>
              <a:tblPr>
                <a:tableStyleId>{5C22544A-7EE6-4342-B048-85BDC9FD1C3A}</a:tableStyleId>
              </a:tblPr>
              <a:tblGrid>
                <a:gridCol w="1159809">
                  <a:extLst>
                    <a:ext uri="{9D8B030D-6E8A-4147-A177-3AD203B41FA5}">
                      <a16:colId xmlns:a16="http://schemas.microsoft.com/office/drawing/2014/main" val="20000"/>
                    </a:ext>
                  </a:extLst>
                </a:gridCol>
                <a:gridCol w="2012197">
                  <a:extLst>
                    <a:ext uri="{9D8B030D-6E8A-4147-A177-3AD203B41FA5}">
                      <a16:colId xmlns:a16="http://schemas.microsoft.com/office/drawing/2014/main" val="20001"/>
                    </a:ext>
                  </a:extLst>
                </a:gridCol>
                <a:gridCol w="2189084">
                  <a:extLst>
                    <a:ext uri="{9D8B030D-6E8A-4147-A177-3AD203B41FA5}">
                      <a16:colId xmlns:a16="http://schemas.microsoft.com/office/drawing/2014/main" val="20002"/>
                    </a:ext>
                  </a:extLst>
                </a:gridCol>
                <a:gridCol w="506310">
                  <a:extLst>
                    <a:ext uri="{9D8B030D-6E8A-4147-A177-3AD203B41FA5}">
                      <a16:colId xmlns:a16="http://schemas.microsoft.com/office/drawing/2014/main" val="20003"/>
                    </a:ext>
                  </a:extLst>
                </a:gridCol>
                <a:gridCol w="2019299">
                  <a:extLst>
                    <a:ext uri="{9D8B030D-6E8A-4147-A177-3AD203B41FA5}">
                      <a16:colId xmlns:a16="http://schemas.microsoft.com/office/drawing/2014/main" val="20004"/>
                    </a:ext>
                  </a:extLst>
                </a:gridCol>
              </a:tblGrid>
              <a:tr h="251403">
                <a:tc>
                  <a:txBody>
                    <a:bodyPr/>
                    <a:lstStyle/>
                    <a:p>
                      <a:pPr algn="ctr" fontAlgn="ctr"/>
                      <a:r>
                        <a:rPr lang="en-US" sz="1100" b="1" u="none" strike="noStrike" dirty="0">
                          <a:effectLst/>
                        </a:rPr>
                        <a:t>S.NO</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tc gridSpan="3">
                  <a:txBody>
                    <a:bodyPr/>
                    <a:lstStyle/>
                    <a:p>
                      <a:pPr algn="ctr" fontAlgn="b"/>
                      <a:r>
                        <a:rPr lang="en-US" sz="1100" b="1" u="none" strike="noStrike" dirty="0">
                          <a:effectLst/>
                        </a:rPr>
                        <a:t>DESCRIPTION</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tc hMerge="1">
                  <a:txBody>
                    <a:bodyPr/>
                    <a:lstStyle/>
                    <a:p>
                      <a:endParaRPr lang="en-US"/>
                    </a:p>
                  </a:txBody>
                  <a:tcPr/>
                </a:tc>
                <a:tc hMerge="1">
                  <a:txBody>
                    <a:bodyPr/>
                    <a:lstStyle/>
                    <a:p>
                      <a:endParaRPr lang="en-US"/>
                    </a:p>
                  </a:txBody>
                  <a:tcPr/>
                </a:tc>
                <a:tc>
                  <a:txBody>
                    <a:bodyPr/>
                    <a:lstStyle/>
                    <a:p>
                      <a:pPr algn="ctr" fontAlgn="b"/>
                      <a:r>
                        <a:rPr lang="en-US" sz="1100" b="1" u="none" strike="noStrike" dirty="0">
                          <a:effectLst/>
                        </a:rPr>
                        <a:t>PHOTO</a:t>
                      </a:r>
                      <a:endParaRPr lang="en-US" sz="1100" b="1" i="0" u="none" strike="noStrike" dirty="0">
                        <a:solidFill>
                          <a:srgbClr val="000000"/>
                        </a:solidFill>
                        <a:effectLst/>
                        <a:latin typeface="Calibri"/>
                      </a:endParaRPr>
                    </a:p>
                  </a:txBody>
                  <a:tcPr marL="0" marR="0" marT="0" marB="0" anchor="ctr">
                    <a:solidFill>
                      <a:schemeClr val="accent6">
                        <a:lumMod val="75000"/>
                      </a:schemeClr>
                    </a:solidFill>
                  </a:tcPr>
                </a:tc>
                <a:extLst>
                  <a:ext uri="{0D108BD9-81ED-4DB2-BD59-A6C34878D82A}">
                    <a16:rowId xmlns:a16="http://schemas.microsoft.com/office/drawing/2014/main" val="10000"/>
                  </a:ext>
                </a:extLst>
              </a:tr>
            </a:tbl>
          </a:graphicData>
        </a:graphic>
      </p:graphicFrame>
      <p:pic>
        <p:nvPicPr>
          <p:cNvPr id="11" name="Picture 1" descr="C:\Users\akshay.samudre\Downloads\Strong-Built-Logo.png"/>
          <p:cNvPicPr>
            <a:picLocks noChangeAspect="1" noChangeArrowheads="1"/>
          </p:cNvPicPr>
          <p:nvPr/>
        </p:nvPicPr>
        <p:blipFill>
          <a:blip r:embed="rId6" cstate="print"/>
          <a:srcRect/>
          <a:stretch>
            <a:fillRect/>
          </a:stretch>
        </p:blipFill>
        <p:spPr bwMode="auto">
          <a:xfrm>
            <a:off x="76200" y="76200"/>
            <a:ext cx="2590800" cy="1752600"/>
          </a:xfrm>
          <a:prstGeom prst="rect">
            <a:avLst/>
          </a:prstGeom>
          <a:noFill/>
        </p:spPr>
      </p:pic>
    </p:spTree>
    <p:extLst>
      <p:ext uri="{BB962C8B-B14F-4D97-AF65-F5344CB8AC3E}">
        <p14:creationId xmlns:p14="http://schemas.microsoft.com/office/powerpoint/2010/main" val="1922317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kshay.samudre\Downloads\Strong-Built-Logo.png"/>
          <p:cNvPicPr>
            <a:picLocks noChangeAspect="1" noChangeArrowheads="1"/>
          </p:cNvPicPr>
          <p:nvPr/>
        </p:nvPicPr>
        <p:blipFill>
          <a:blip r:embed="rId2" cstate="print"/>
          <a:srcRect/>
          <a:stretch>
            <a:fillRect/>
          </a:stretch>
        </p:blipFill>
        <p:spPr bwMode="auto">
          <a:xfrm>
            <a:off x="76200" y="76200"/>
            <a:ext cx="2590800" cy="1752600"/>
          </a:xfrm>
          <a:prstGeom prst="rect">
            <a:avLst/>
          </a:prstGeom>
          <a:noFill/>
        </p:spPr>
      </p:pic>
      <p:sp>
        <p:nvSpPr>
          <p:cNvPr id="5" name="Content Placeholder 2"/>
          <p:cNvSpPr>
            <a:spLocks noGrp="1"/>
          </p:cNvSpPr>
          <p:nvPr>
            <p:ph idx="1"/>
          </p:nvPr>
        </p:nvSpPr>
        <p:spPr>
          <a:xfrm>
            <a:off x="0" y="2895600"/>
            <a:ext cx="9144000" cy="609600"/>
          </a:xfrm>
        </p:spPr>
        <p:txBody>
          <a:bodyPr>
            <a:normAutofit fontScale="92500" lnSpcReduction="20000"/>
          </a:bodyPr>
          <a:lstStyle/>
          <a:p>
            <a:pPr algn="ctr">
              <a:spcBef>
                <a:spcPct val="0"/>
              </a:spcBef>
              <a:buNone/>
            </a:pPr>
            <a:r>
              <a:rPr lang="en-US" sz="4400" b="1" dirty="0">
                <a:solidFill>
                  <a:schemeClr val="accent6">
                    <a:lumMod val="75000"/>
                  </a:schemeClr>
                </a:solidFill>
                <a:latin typeface="+mj-lt"/>
                <a:ea typeface="+mj-ea"/>
                <a:cs typeface="+mj-cs"/>
              </a:rPr>
              <a:t>THANKS FOR YOUR VALUABLE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748</TotalTime>
  <Words>1767</Words>
  <Application>Microsoft Office PowerPoint</Application>
  <PresentationFormat>On-screen Show (4:3)</PresentationFormat>
  <Paragraphs>227</Paragraphs>
  <Slides>29</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29</vt:i4>
      </vt:variant>
    </vt:vector>
  </HeadingPairs>
  <TitlesOfParts>
    <vt:vector size="37" baseType="lpstr">
      <vt:lpstr>Arial</vt:lpstr>
      <vt:lpstr>Calibri</vt:lpstr>
      <vt:lpstr>Times New Roman</vt:lpstr>
      <vt:lpstr>Wingdings</vt:lpstr>
      <vt:lpstr>Office Theme</vt:lpstr>
      <vt:lpstr>Acrobat Document</vt:lpstr>
      <vt:lpstr>Document</vt:lpstr>
      <vt:lpstr>Worksheet</vt:lpstr>
      <vt:lpstr>PowerPoint Presentation</vt:lpstr>
      <vt:lpstr>Quality Theme</vt:lpstr>
      <vt:lpstr>Quality Objectives – F.Y. 2018</vt:lpstr>
      <vt:lpstr>Duties &amp; Responsibilities of Quality Team</vt:lpstr>
      <vt:lpstr>Corporate Procedures-Quality </vt:lpstr>
      <vt:lpstr>Corporate Procedures-Quality (cont..)</vt:lpstr>
      <vt:lpstr>Corporate Procedures-Quality (cont..)</vt:lpstr>
      <vt:lpstr>Corporate Procedures-Quality (cont..)</vt:lpstr>
      <vt:lpstr>Corporate Procedures-Quality (cont..)</vt:lpstr>
      <vt:lpstr>Corporate Procedures-Quality (cont..)</vt:lpstr>
      <vt:lpstr>Corporate Procedures-Quality (cont..)</vt:lpstr>
      <vt:lpstr>Quality Management System Training &amp; Induction</vt:lpstr>
      <vt:lpstr>Quality Management System Training &amp; Induction</vt:lpstr>
      <vt:lpstr>Corporate Procedures-Quality (cont..)</vt:lpstr>
      <vt:lpstr>Customer satisfaction survey form</vt:lpstr>
      <vt:lpstr>Corporate Procedures-Quality (cont..)</vt:lpstr>
      <vt:lpstr>Quality Award</vt:lpstr>
      <vt:lpstr>Quality System Documents</vt:lpstr>
      <vt:lpstr>Quality Initiatives</vt:lpstr>
      <vt:lpstr>Quality Initiatives</vt:lpstr>
      <vt:lpstr>Quality Walk Report</vt:lpstr>
      <vt:lpstr>Quality Walk Closeout Report</vt:lpstr>
      <vt:lpstr>Quality Initiatives</vt:lpstr>
      <vt:lpstr>Sample Quality Pocket Cards</vt:lpstr>
      <vt:lpstr>Sample Idiot Guide for Quality</vt:lpstr>
      <vt:lpstr>Sample Idiot Guide for Quality</vt:lpstr>
      <vt:lpstr>Sample Idiot Guide for Quality</vt:lpstr>
      <vt:lpstr>Sample Idiot Guide for Quality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akshay samudre</dc:creator>
  <cp:lastModifiedBy>Brijesh Singh</cp:lastModifiedBy>
  <cp:revision>56</cp:revision>
  <dcterms:created xsi:type="dcterms:W3CDTF">2006-08-16T00:00:00Z</dcterms:created>
  <dcterms:modified xsi:type="dcterms:W3CDTF">2024-02-15T07:20:48Z</dcterms:modified>
</cp:coreProperties>
</file>